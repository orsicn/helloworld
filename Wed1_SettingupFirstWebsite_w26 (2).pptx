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aleway"/>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9" roundtripDataSignature="AMtx7mjp8+ewv7jlQnFtLYFe2CXezuUQ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italic.fntdata"/><Relationship Id="rId10" Type="http://schemas.openxmlformats.org/officeDocument/2006/relationships/slide" Target="slides/slide5.xml"/><Relationship Id="rId32" Type="http://schemas.openxmlformats.org/officeDocument/2006/relationships/font" Target="fonts/Raleway-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Raleway-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2" name="Google Shape;14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7"/>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p27"/>
          <p:cNvGrpSpPr/>
          <p:nvPr/>
        </p:nvGrpSpPr>
        <p:grpSpPr>
          <a:xfrm>
            <a:off x="830392" y="1191256"/>
            <a:ext cx="745763" cy="45826"/>
            <a:chOff x="4580561" y="2589004"/>
            <a:chExt cx="1064464" cy="25200"/>
          </a:xfrm>
        </p:grpSpPr>
        <p:sp>
          <p:nvSpPr>
            <p:cNvPr id="12" name="Google Shape;12;p2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27"/>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5" name="Google Shape;15;p27"/>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16" name="Google Shape;16;p2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7" name="Shape 17"/>
        <p:cNvGrpSpPr/>
        <p:nvPr/>
      </p:nvGrpSpPr>
      <p:grpSpPr>
        <a:xfrm>
          <a:off x="0" y="0"/>
          <a:ext cx="0" cy="0"/>
          <a:chOff x="0" y="0"/>
          <a:chExt cx="0" cy="0"/>
        </a:xfrm>
      </p:grpSpPr>
      <p:grpSp>
        <p:nvGrpSpPr>
          <p:cNvPr id="18" name="Google Shape;18;p28"/>
          <p:cNvGrpSpPr/>
          <p:nvPr/>
        </p:nvGrpSpPr>
        <p:grpSpPr>
          <a:xfrm>
            <a:off x="830392" y="4169130"/>
            <a:ext cx="745763" cy="45826"/>
            <a:chOff x="4580561" y="2589004"/>
            <a:chExt cx="1064464" cy="25200"/>
          </a:xfrm>
        </p:grpSpPr>
        <p:sp>
          <p:nvSpPr>
            <p:cNvPr id="19" name="Google Shape;19;p2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 name="Google Shape;21;p28"/>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22" name="Google Shape;22;p28"/>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2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5" name="Google Shape;25;p29"/>
          <p:cNvGrpSpPr/>
          <p:nvPr/>
        </p:nvGrpSpPr>
        <p:grpSpPr>
          <a:xfrm>
            <a:off x="830392" y="1191256"/>
            <a:ext cx="745763" cy="45826"/>
            <a:chOff x="4580561" y="2589004"/>
            <a:chExt cx="1064464" cy="25200"/>
          </a:xfrm>
        </p:grpSpPr>
        <p:sp>
          <p:nvSpPr>
            <p:cNvPr id="26" name="Google Shape;26;p2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p2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29" name="Google Shape;29;p2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0" name="Google Shape;30;p29"/>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
        <p:nvSpPr>
          <p:cNvPr id="32" name="Google Shape;32;p30"/>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33" name="Shape 33"/>
        <p:cNvGrpSpPr/>
        <p:nvPr/>
      </p:nvGrpSpPr>
      <p:grpSpPr>
        <a:xfrm>
          <a:off x="0" y="0"/>
          <a:ext cx="0" cy="0"/>
          <a:chOff x="0" y="0"/>
          <a:chExt cx="0" cy="0"/>
        </a:xfrm>
      </p:grpSpPr>
      <p:grpSp>
        <p:nvGrpSpPr>
          <p:cNvPr id="34" name="Google Shape;34;p31"/>
          <p:cNvGrpSpPr/>
          <p:nvPr/>
        </p:nvGrpSpPr>
        <p:grpSpPr>
          <a:xfrm>
            <a:off x="830392" y="1191256"/>
            <a:ext cx="745763" cy="45826"/>
            <a:chOff x="4580561" y="2589004"/>
            <a:chExt cx="1064464" cy="25200"/>
          </a:xfrm>
        </p:grpSpPr>
        <p:sp>
          <p:nvSpPr>
            <p:cNvPr id="35" name="Google Shape;35;p3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3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31"/>
          <p:cNvSpPr txBox="1"/>
          <p:nvPr>
            <p:ph type="title"/>
          </p:nvPr>
        </p:nvSpPr>
        <p:spPr>
          <a:xfrm>
            <a:off x="729450" y="1322450"/>
            <a:ext cx="7688400" cy="1518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p:txBody>
      </p:sp>
      <p:sp>
        <p:nvSpPr>
          <p:cNvPr id="38" name="Google Shape;38;p3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32"/>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1" name="Google Shape;41;p32"/>
          <p:cNvGrpSpPr/>
          <p:nvPr/>
        </p:nvGrpSpPr>
        <p:grpSpPr>
          <a:xfrm>
            <a:off x="830392" y="1191256"/>
            <a:ext cx="745763" cy="45826"/>
            <a:chOff x="4580561" y="2589004"/>
            <a:chExt cx="1064464" cy="25200"/>
          </a:xfrm>
        </p:grpSpPr>
        <p:sp>
          <p:nvSpPr>
            <p:cNvPr id="42" name="Google Shape;42;p3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3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4" name="Google Shape;44;p32"/>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45" name="Google Shape;45;p32"/>
          <p:cNvSpPr txBox="1"/>
          <p:nvPr>
            <p:ph idx="1" type="body"/>
          </p:nvPr>
        </p:nvSpPr>
        <p:spPr>
          <a:xfrm>
            <a:off x="729325"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6" name="Google Shape;46;p32"/>
          <p:cNvSpPr txBox="1"/>
          <p:nvPr>
            <p:ph idx="2" type="body"/>
          </p:nvPr>
        </p:nvSpPr>
        <p:spPr>
          <a:xfrm>
            <a:off x="4643604" y="2078875"/>
            <a:ext cx="37743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7" name="Google Shape;47;p32"/>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 name="Shape 48"/>
        <p:cNvGrpSpPr/>
        <p:nvPr/>
      </p:nvGrpSpPr>
      <p:grpSpPr>
        <a:xfrm>
          <a:off x="0" y="0"/>
          <a:ext cx="0" cy="0"/>
          <a:chOff x="0" y="0"/>
          <a:chExt cx="0" cy="0"/>
        </a:xfrm>
      </p:grpSpPr>
      <p:sp>
        <p:nvSpPr>
          <p:cNvPr id="49" name="Google Shape;49;p33"/>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 name="Google Shape;50;p33"/>
          <p:cNvGrpSpPr/>
          <p:nvPr/>
        </p:nvGrpSpPr>
        <p:grpSpPr>
          <a:xfrm>
            <a:off x="830392" y="1191256"/>
            <a:ext cx="745763" cy="45826"/>
            <a:chOff x="4580561" y="2589004"/>
            <a:chExt cx="1064464" cy="25200"/>
          </a:xfrm>
        </p:grpSpPr>
        <p:sp>
          <p:nvSpPr>
            <p:cNvPr id="51" name="Google Shape;51;p33"/>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3"/>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3" name="Google Shape;53;p33"/>
          <p:cNvSpPr txBox="1"/>
          <p:nvPr>
            <p:ph type="title"/>
          </p:nvPr>
        </p:nvSpPr>
        <p:spPr>
          <a:xfrm>
            <a:off x="729450" y="1318650"/>
            <a:ext cx="7688400" cy="535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54" name="Google Shape;54;p3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5" name="Shape 55"/>
        <p:cNvGrpSpPr/>
        <p:nvPr/>
      </p:nvGrpSpPr>
      <p:grpSpPr>
        <a:xfrm>
          <a:off x="0" y="0"/>
          <a:ext cx="0" cy="0"/>
          <a:chOff x="0" y="0"/>
          <a:chExt cx="0" cy="0"/>
        </a:xfrm>
      </p:grpSpPr>
      <p:sp>
        <p:nvSpPr>
          <p:cNvPr id="56" name="Google Shape;56;p3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7" name="Google Shape;57;p34"/>
          <p:cNvGrpSpPr/>
          <p:nvPr/>
        </p:nvGrpSpPr>
        <p:grpSpPr>
          <a:xfrm>
            <a:off x="830392" y="1191256"/>
            <a:ext cx="745763" cy="45826"/>
            <a:chOff x="4580561" y="2589004"/>
            <a:chExt cx="1064464" cy="25200"/>
          </a:xfrm>
        </p:grpSpPr>
        <p:sp>
          <p:nvSpPr>
            <p:cNvPr id="58" name="Google Shape;58;p3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3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0" name="Google Shape;60;p34"/>
          <p:cNvSpPr txBox="1"/>
          <p:nvPr>
            <p:ph type="title"/>
          </p:nvPr>
        </p:nvSpPr>
        <p:spPr>
          <a:xfrm>
            <a:off x="730000" y="1318650"/>
            <a:ext cx="3300900" cy="1381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1" name="Google Shape;61;p34"/>
          <p:cNvSpPr txBox="1"/>
          <p:nvPr>
            <p:ph idx="1" type="body"/>
          </p:nvPr>
        </p:nvSpPr>
        <p:spPr>
          <a:xfrm>
            <a:off x="721225" y="2781725"/>
            <a:ext cx="3300900" cy="1597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62" name="Google Shape;62;p34"/>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35"/>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5" name="Google Shape;65;p35"/>
          <p:cNvGrpSpPr/>
          <p:nvPr/>
        </p:nvGrpSpPr>
        <p:grpSpPr>
          <a:xfrm>
            <a:off x="830392" y="1191256"/>
            <a:ext cx="745763" cy="45826"/>
            <a:chOff x="4580561" y="2589004"/>
            <a:chExt cx="1064464" cy="25200"/>
          </a:xfrm>
        </p:grpSpPr>
        <p:sp>
          <p:nvSpPr>
            <p:cNvPr id="66" name="Google Shape;66;p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35"/>
          <p:cNvSpPr txBox="1"/>
          <p:nvPr>
            <p:ph type="title"/>
          </p:nvPr>
        </p:nvSpPr>
        <p:spPr>
          <a:xfrm>
            <a:off x="730000" y="1318650"/>
            <a:ext cx="3300900" cy="16872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p:txBody>
      </p:sp>
      <p:sp>
        <p:nvSpPr>
          <p:cNvPr id="69" name="Google Shape;69;p35"/>
          <p:cNvSpPr txBox="1"/>
          <p:nvPr>
            <p:ph idx="1" type="subTitle"/>
          </p:nvPr>
        </p:nvSpPr>
        <p:spPr>
          <a:xfrm>
            <a:off x="724950" y="3161525"/>
            <a:ext cx="3300900" cy="759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70" name="Google Shape;70;p35"/>
          <p:cNvSpPr txBox="1"/>
          <p:nvPr>
            <p:ph idx="2" type="body"/>
          </p:nvPr>
        </p:nvSpPr>
        <p:spPr>
          <a:xfrm>
            <a:off x="5174225" y="1352625"/>
            <a:ext cx="3374400" cy="302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71" name="Google Shape;71;p35"/>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36"/>
          <p:cNvSpPr txBox="1"/>
          <p:nvPr>
            <p:ph idx="1" type="body"/>
          </p:nvPr>
        </p:nvSpPr>
        <p:spPr>
          <a:xfrm>
            <a:off x="724950" y="4372551"/>
            <a:ext cx="7697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74" name="Google Shape;74;p3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5" name="Shape 75"/>
        <p:cNvGrpSpPr/>
        <p:nvPr/>
      </p:nvGrpSpPr>
      <p:grpSpPr>
        <a:xfrm>
          <a:off x="0" y="0"/>
          <a:ext cx="0" cy="0"/>
          <a:chOff x="0" y="0"/>
          <a:chExt cx="0" cy="0"/>
        </a:xfrm>
      </p:grpSpPr>
      <p:grpSp>
        <p:nvGrpSpPr>
          <p:cNvPr id="76" name="Google Shape;76;p37"/>
          <p:cNvGrpSpPr/>
          <p:nvPr/>
        </p:nvGrpSpPr>
        <p:grpSpPr>
          <a:xfrm>
            <a:off x="830392" y="4169130"/>
            <a:ext cx="745763" cy="45826"/>
            <a:chOff x="4580561" y="2589004"/>
            <a:chExt cx="1064464" cy="25200"/>
          </a:xfrm>
        </p:grpSpPr>
        <p:sp>
          <p:nvSpPr>
            <p:cNvPr id="77" name="Google Shape;77;p37"/>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7"/>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9" name="Google Shape;79;p37"/>
          <p:cNvSpPr txBox="1"/>
          <p:nvPr>
            <p:ph hasCustomPrompt="1" type="title"/>
          </p:nvPr>
        </p:nvSpPr>
        <p:spPr>
          <a:xfrm>
            <a:off x="729450" y="733950"/>
            <a:ext cx="7688400" cy="1244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0" name="Google Shape;80;p37"/>
          <p:cNvSpPr txBox="1"/>
          <p:nvPr>
            <p:ph idx="1" type="body"/>
          </p:nvPr>
        </p:nvSpPr>
        <p:spPr>
          <a:xfrm>
            <a:off x="729450" y="2272888"/>
            <a:ext cx="7688400" cy="15804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lt1"/>
              </a:buClr>
              <a:buSzPts val="1300"/>
              <a:buChar char="●"/>
              <a:defRPr>
                <a:solidFill>
                  <a:schemeClr val="lt1"/>
                </a:solidFill>
              </a:defRPr>
            </a:lvl1pPr>
            <a:lvl2pPr indent="-298450" lvl="1" marL="914400" algn="l">
              <a:lnSpc>
                <a:spcPct val="115000"/>
              </a:lnSpc>
              <a:spcBef>
                <a:spcPts val="0"/>
              </a:spcBef>
              <a:spcAft>
                <a:spcPts val="0"/>
              </a:spcAft>
              <a:buClr>
                <a:schemeClr val="lt1"/>
              </a:buClr>
              <a:buSzPts val="1100"/>
              <a:buChar char="○"/>
              <a:defRPr>
                <a:solidFill>
                  <a:schemeClr val="lt1"/>
                </a:solidFill>
              </a:defRPr>
            </a:lvl2pPr>
            <a:lvl3pPr indent="-298450" lvl="2" marL="1371600" algn="l">
              <a:lnSpc>
                <a:spcPct val="115000"/>
              </a:lnSpc>
              <a:spcBef>
                <a:spcPts val="0"/>
              </a:spcBef>
              <a:spcAft>
                <a:spcPts val="0"/>
              </a:spcAft>
              <a:buClr>
                <a:schemeClr val="lt1"/>
              </a:buClr>
              <a:buSzPts val="1100"/>
              <a:buChar char="■"/>
              <a:defRPr>
                <a:solidFill>
                  <a:schemeClr val="lt1"/>
                </a:solidFill>
              </a:defRPr>
            </a:lvl3pPr>
            <a:lvl4pPr indent="-298450" lvl="3" marL="1828800" algn="l">
              <a:lnSpc>
                <a:spcPct val="115000"/>
              </a:lnSpc>
              <a:spcBef>
                <a:spcPts val="0"/>
              </a:spcBef>
              <a:spcAft>
                <a:spcPts val="0"/>
              </a:spcAft>
              <a:buClr>
                <a:schemeClr val="lt1"/>
              </a:buClr>
              <a:buSzPts val="1100"/>
              <a:buChar char="●"/>
              <a:defRPr>
                <a:solidFill>
                  <a:schemeClr val="lt1"/>
                </a:solidFill>
              </a:defRPr>
            </a:lvl4pPr>
            <a:lvl5pPr indent="-298450" lvl="4" marL="2286000" algn="l">
              <a:lnSpc>
                <a:spcPct val="115000"/>
              </a:lnSpc>
              <a:spcBef>
                <a:spcPts val="0"/>
              </a:spcBef>
              <a:spcAft>
                <a:spcPts val="0"/>
              </a:spcAft>
              <a:buClr>
                <a:schemeClr val="lt1"/>
              </a:buClr>
              <a:buSzPts val="1100"/>
              <a:buChar char="○"/>
              <a:defRPr>
                <a:solidFill>
                  <a:schemeClr val="lt1"/>
                </a:solidFill>
              </a:defRPr>
            </a:lvl5pPr>
            <a:lvl6pPr indent="-298450" lvl="5" marL="2743200" algn="l">
              <a:lnSpc>
                <a:spcPct val="115000"/>
              </a:lnSpc>
              <a:spcBef>
                <a:spcPts val="0"/>
              </a:spcBef>
              <a:spcAft>
                <a:spcPts val="0"/>
              </a:spcAft>
              <a:buClr>
                <a:schemeClr val="lt1"/>
              </a:buClr>
              <a:buSzPts val="1100"/>
              <a:buChar char="■"/>
              <a:defRPr>
                <a:solidFill>
                  <a:schemeClr val="lt1"/>
                </a:solidFill>
              </a:defRPr>
            </a:lvl6pPr>
            <a:lvl7pPr indent="-298450" lvl="6" marL="3200400" algn="l">
              <a:lnSpc>
                <a:spcPct val="115000"/>
              </a:lnSpc>
              <a:spcBef>
                <a:spcPts val="0"/>
              </a:spcBef>
              <a:spcAft>
                <a:spcPts val="0"/>
              </a:spcAft>
              <a:buClr>
                <a:schemeClr val="lt1"/>
              </a:buClr>
              <a:buSzPts val="1100"/>
              <a:buChar char="●"/>
              <a:defRPr>
                <a:solidFill>
                  <a:schemeClr val="lt1"/>
                </a:solidFill>
              </a:defRPr>
            </a:lvl7pPr>
            <a:lvl8pPr indent="-298450" lvl="7" marL="3657600" algn="l">
              <a:lnSpc>
                <a:spcPct val="115000"/>
              </a:lnSpc>
              <a:spcBef>
                <a:spcPts val="0"/>
              </a:spcBef>
              <a:spcAft>
                <a:spcPts val="0"/>
              </a:spcAft>
              <a:buClr>
                <a:schemeClr val="lt1"/>
              </a:buClr>
              <a:buSzPts val="1100"/>
              <a:buChar char="○"/>
              <a:defRPr>
                <a:solidFill>
                  <a:schemeClr val="lt1"/>
                </a:solidFill>
              </a:defRPr>
            </a:lvl8pPr>
            <a:lvl9pPr indent="-298450" lvl="8" marL="4114800" algn="l">
              <a:lnSpc>
                <a:spcPct val="115000"/>
              </a:lnSpc>
              <a:spcBef>
                <a:spcPts val="0"/>
              </a:spcBef>
              <a:spcAft>
                <a:spcPts val="0"/>
              </a:spcAft>
              <a:buClr>
                <a:schemeClr val="lt1"/>
              </a:buClr>
              <a:buSzPts val="1100"/>
              <a:buChar char="■"/>
              <a:defRPr>
                <a:solidFill>
                  <a:schemeClr val="lt1"/>
                </a:solidFill>
              </a:defRPr>
            </a:lvl9pPr>
          </a:lstStyle>
          <a:p/>
        </p:txBody>
      </p:sp>
      <p:sp>
        <p:nvSpPr>
          <p:cNvPr id="81" name="Google Shape;81;p37"/>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2800"/>
              <a:buFont typeface="Raleway"/>
              <a:buNone/>
              <a:defRPr b="1" i="0" sz="2800" u="none" cap="none" strike="noStrike">
                <a:solidFill>
                  <a:schemeClr val="dk2"/>
                </a:solidFill>
                <a:latin typeface="Raleway"/>
                <a:ea typeface="Raleway"/>
                <a:cs typeface="Raleway"/>
                <a:sym typeface="Raleway"/>
              </a:defRPr>
            </a:lvl9pPr>
          </a:lstStyle>
          <a:p/>
        </p:txBody>
      </p:sp>
      <p:sp>
        <p:nvSpPr>
          <p:cNvPr id="7" name="Google Shape;7;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accent1"/>
              </a:buClr>
              <a:buSzPts val="1300"/>
              <a:buFont typeface="Lato"/>
              <a:buChar char="●"/>
              <a:defRPr b="0" i="0" sz="1300" u="none" cap="none" strike="noStrike">
                <a:solidFill>
                  <a:schemeClr val="accent1"/>
                </a:solidFill>
                <a:latin typeface="Lato"/>
                <a:ea typeface="Lato"/>
                <a:cs typeface="Lato"/>
                <a:sym typeface="Lato"/>
              </a:defRPr>
            </a:lvl1pPr>
            <a:lvl2pPr indent="-298450" lvl="1" marL="914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2pPr>
            <a:lvl3pPr indent="-298450" lvl="2" marL="1371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3pPr>
            <a:lvl4pPr indent="-298450" lvl="3" marL="1828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4pPr>
            <a:lvl5pPr indent="-298450" lvl="4" marL="22860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5pPr>
            <a:lvl6pPr indent="-298450" lvl="5" marL="27432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6pPr>
            <a:lvl7pPr indent="-298450" lvl="6" marL="32004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7pPr>
            <a:lvl8pPr indent="-298450" lvl="7" marL="36576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8pPr>
            <a:lvl9pPr indent="-298450" lvl="8" marL="4114800" marR="0" rtl="0" algn="l">
              <a:lnSpc>
                <a:spcPct val="115000"/>
              </a:lnSpc>
              <a:spcBef>
                <a:spcPts val="0"/>
              </a:spcBef>
              <a:spcAft>
                <a:spcPts val="0"/>
              </a:spcAft>
              <a:buClr>
                <a:schemeClr val="accent1"/>
              </a:buClr>
              <a:buSzPts val="1100"/>
              <a:buFont typeface="Lato"/>
              <a:buChar char="■"/>
              <a:defRPr b="0" i="0" sz="1100" u="none" cap="none" strike="noStrike">
                <a:solidFill>
                  <a:schemeClr val="accent1"/>
                </a:solidFill>
                <a:latin typeface="Lato"/>
                <a:ea typeface="Lato"/>
                <a:cs typeface="Lato"/>
                <a:sym typeface="Lato"/>
              </a:defRPr>
            </a:lvl9pPr>
          </a:lstStyle>
          <a:p/>
        </p:txBody>
      </p:sp>
      <p:sp>
        <p:nvSpPr>
          <p:cNvPr id="8" name="Google Shape;8;p26"/>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mailto:thatchja@oregonstate.edu"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729450" y="1322450"/>
            <a:ext cx="7688100" cy="1664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4200"/>
              <a:buNone/>
            </a:pPr>
            <a:r>
              <a:rPr lang="en"/>
              <a:t>‘Gearing up’</a:t>
            </a:r>
            <a:endParaRPr/>
          </a:p>
        </p:txBody>
      </p:sp>
      <p:sp>
        <p:nvSpPr>
          <p:cNvPr id="87" name="Google Shape;87;p1"/>
          <p:cNvSpPr txBox="1"/>
          <p:nvPr>
            <p:ph idx="1" type="subTitle"/>
          </p:nvPr>
        </p:nvSpPr>
        <p:spPr>
          <a:xfrm>
            <a:off x="729627" y="3172900"/>
            <a:ext cx="7688100" cy="5412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a:t>Some tools and ideas we’ll be using all quarter!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729450" y="864300"/>
            <a:ext cx="7021200" cy="29850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600"/>
              <a:buNone/>
            </a:pPr>
            <a:r>
              <a:rPr lang="en"/>
              <a:t>REMINDER: Please complete the survey on canvas!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Today’s Outline</a:t>
            </a:r>
            <a:endParaRPr/>
          </a:p>
        </p:txBody>
      </p:sp>
      <p:sp>
        <p:nvSpPr>
          <p:cNvPr id="98" name="Google Shape;98;p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Follow up questions?</a:t>
            </a:r>
            <a:endParaRPr/>
          </a:p>
          <a:p>
            <a:pPr indent="-311150" lvl="0" marL="457200" rtl="0" algn="l">
              <a:lnSpc>
                <a:spcPct val="115000"/>
              </a:lnSpc>
              <a:spcBef>
                <a:spcPts val="0"/>
              </a:spcBef>
              <a:spcAft>
                <a:spcPts val="0"/>
              </a:spcAft>
              <a:buSzPts val="1300"/>
              <a:buChar char="●"/>
            </a:pPr>
            <a:r>
              <a:rPr lang="en"/>
              <a:t>The tools we’ll use (mostly)</a:t>
            </a:r>
            <a:endParaRPr/>
          </a:p>
          <a:p>
            <a:pPr indent="-298450" lvl="1" marL="914400" rtl="0" algn="l">
              <a:lnSpc>
                <a:spcPct val="115000"/>
              </a:lnSpc>
              <a:spcBef>
                <a:spcPts val="0"/>
              </a:spcBef>
              <a:spcAft>
                <a:spcPts val="0"/>
              </a:spcAft>
              <a:buSzPts val="1100"/>
              <a:buChar char="○"/>
            </a:pPr>
            <a:r>
              <a:rPr lang="en"/>
              <a:t>Github</a:t>
            </a:r>
            <a:endParaRPr/>
          </a:p>
          <a:p>
            <a:pPr indent="-298450" lvl="2" marL="1371600" rtl="0" algn="l">
              <a:lnSpc>
                <a:spcPct val="115000"/>
              </a:lnSpc>
              <a:spcBef>
                <a:spcPts val="0"/>
              </a:spcBef>
              <a:spcAft>
                <a:spcPts val="0"/>
              </a:spcAft>
              <a:buSzPts val="1100"/>
              <a:buChar char="■"/>
            </a:pPr>
            <a:r>
              <a:rPr lang="en"/>
              <a:t>Git is optional</a:t>
            </a:r>
            <a:endParaRPr/>
          </a:p>
          <a:p>
            <a:pPr indent="-298450" lvl="1" marL="914400" rtl="0" algn="l">
              <a:lnSpc>
                <a:spcPct val="115000"/>
              </a:lnSpc>
              <a:spcBef>
                <a:spcPts val="0"/>
              </a:spcBef>
              <a:spcAft>
                <a:spcPts val="0"/>
              </a:spcAft>
              <a:buSzPts val="1100"/>
              <a:buChar char="○"/>
            </a:pPr>
            <a:r>
              <a:rPr lang="en"/>
              <a:t>Visual Studio Code (with Live Server)</a:t>
            </a:r>
            <a:endParaRPr/>
          </a:p>
          <a:p>
            <a:pPr indent="-298450" lvl="1" marL="914400" rtl="0" algn="l">
              <a:lnSpc>
                <a:spcPct val="115000"/>
              </a:lnSpc>
              <a:spcBef>
                <a:spcPts val="0"/>
              </a:spcBef>
              <a:spcAft>
                <a:spcPts val="0"/>
              </a:spcAft>
              <a:buSzPts val="1100"/>
              <a:buChar char="○"/>
            </a:pPr>
            <a:r>
              <a:rPr lang="en"/>
              <a:t>QGIS </a:t>
            </a:r>
            <a:endParaRPr/>
          </a:p>
          <a:p>
            <a:pPr indent="-311150" lvl="0" marL="457200" rtl="0" algn="l">
              <a:lnSpc>
                <a:spcPct val="115000"/>
              </a:lnSpc>
              <a:spcBef>
                <a:spcPts val="0"/>
              </a:spcBef>
              <a:spcAft>
                <a:spcPts val="0"/>
              </a:spcAft>
              <a:buSzPts val="1300"/>
              <a:buChar char="●"/>
            </a:pPr>
            <a:r>
              <a:rPr lang="en"/>
              <a:t>“Our First Web Site”</a:t>
            </a:r>
            <a:endParaRPr/>
          </a:p>
          <a:p>
            <a:pPr indent="-298450" lvl="1" marL="914400" rtl="0" algn="l">
              <a:lnSpc>
                <a:spcPct val="115000"/>
              </a:lnSpc>
              <a:spcBef>
                <a:spcPts val="0"/>
              </a:spcBef>
              <a:spcAft>
                <a:spcPts val="0"/>
              </a:spcAft>
              <a:buSzPts val="1100"/>
              <a:buChar char="○"/>
            </a:pPr>
            <a:r>
              <a:rPr lang="en"/>
              <a:t>Hello HTML!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Questions on the class structure?</a:t>
            </a:r>
            <a:endParaRPr/>
          </a:p>
        </p:txBody>
      </p:sp>
      <p:sp>
        <p:nvSpPr>
          <p:cNvPr id="104" name="Google Shape;104;p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a:t>A few key points:</a:t>
            </a:r>
            <a:endParaRPr/>
          </a:p>
          <a:p>
            <a:pPr indent="-311150" lvl="0" marL="457200" rtl="0" algn="l">
              <a:lnSpc>
                <a:spcPct val="115000"/>
              </a:lnSpc>
              <a:spcBef>
                <a:spcPts val="1200"/>
              </a:spcBef>
              <a:spcAft>
                <a:spcPts val="0"/>
              </a:spcAft>
              <a:buSzPts val="1300"/>
              <a:buChar char="●"/>
            </a:pPr>
            <a:r>
              <a:rPr lang="en"/>
              <a:t>There are four Undergraduate quizzes and four Graduate student meetings. The dates are on the syllabus (the first meeting is this Friday; the first Quiz is Wednesday, 1/21).</a:t>
            </a:r>
            <a:endParaRPr/>
          </a:p>
          <a:p>
            <a:pPr indent="-311150" lvl="0" marL="457200" rtl="0" algn="l">
              <a:lnSpc>
                <a:spcPct val="115000"/>
              </a:lnSpc>
              <a:spcBef>
                <a:spcPts val="0"/>
              </a:spcBef>
              <a:spcAft>
                <a:spcPts val="0"/>
              </a:spcAft>
              <a:buSzPts val="1300"/>
              <a:buChar char="●"/>
            </a:pPr>
            <a:r>
              <a:rPr lang="en"/>
              <a:t>There are five labs and a final project</a:t>
            </a:r>
            <a:endParaRPr/>
          </a:p>
          <a:p>
            <a:pPr indent="-298450" lvl="1" marL="914400" rtl="0" algn="l">
              <a:lnSpc>
                <a:spcPct val="115000"/>
              </a:lnSpc>
              <a:spcBef>
                <a:spcPts val="0"/>
              </a:spcBef>
              <a:spcAft>
                <a:spcPts val="0"/>
              </a:spcAft>
              <a:buSzPts val="1100"/>
              <a:buChar char="○"/>
            </a:pPr>
            <a:r>
              <a:rPr lang="en"/>
              <a:t>Labs are Monday in Strand 361 (2:00pm - 3:50pm)</a:t>
            </a:r>
            <a:endParaRPr/>
          </a:p>
          <a:p>
            <a:pPr indent="-311150" lvl="0" marL="457200" rtl="0" algn="l">
              <a:lnSpc>
                <a:spcPct val="115000"/>
              </a:lnSpc>
              <a:spcBef>
                <a:spcPts val="0"/>
              </a:spcBef>
              <a:spcAft>
                <a:spcPts val="0"/>
              </a:spcAft>
              <a:buSzPts val="1300"/>
              <a:buChar char="●"/>
            </a:pPr>
            <a:r>
              <a:rPr lang="en"/>
              <a:t>Lectures are M/W/F here in Strand 361</a:t>
            </a:r>
            <a:endParaRPr/>
          </a:p>
          <a:p>
            <a:pPr indent="-298450" lvl="1" marL="914400" rtl="0" algn="l">
              <a:lnSpc>
                <a:spcPct val="115000"/>
              </a:lnSpc>
              <a:spcBef>
                <a:spcPts val="0"/>
              </a:spcBef>
              <a:spcAft>
                <a:spcPts val="0"/>
              </a:spcAft>
              <a:buSzPts val="1100"/>
              <a:buChar char="○"/>
            </a:pPr>
            <a:r>
              <a:rPr lang="en"/>
              <a:t>Lectures will be ~⅓ lecture, ~⅓ activity, and ~⅓ discussion</a:t>
            </a:r>
            <a:endParaRPr/>
          </a:p>
          <a:p>
            <a:pPr indent="-311150" lvl="0" marL="457200" rtl="0" algn="l">
              <a:lnSpc>
                <a:spcPct val="115000"/>
              </a:lnSpc>
              <a:spcBef>
                <a:spcPts val="0"/>
              </a:spcBef>
              <a:spcAft>
                <a:spcPts val="0"/>
              </a:spcAft>
              <a:buSzPts val="1300"/>
              <a:buChar char="●"/>
            </a:pPr>
            <a:r>
              <a:rPr lang="en"/>
              <a:t>There are two bonus assignments towards the end of the quarter </a:t>
            </a:r>
            <a:endParaRPr/>
          </a:p>
          <a:p>
            <a:pPr indent="-298450" lvl="1" marL="914400" rtl="0" algn="l">
              <a:lnSpc>
                <a:spcPct val="115000"/>
              </a:lnSpc>
              <a:spcBef>
                <a:spcPts val="0"/>
              </a:spcBef>
              <a:spcAft>
                <a:spcPts val="0"/>
              </a:spcAft>
              <a:buSzPts val="1100"/>
              <a:buChar char="○"/>
            </a:pPr>
            <a:r>
              <a:rPr i="1" lang="en"/>
              <a:t>There may be other opportunities, these are guaranteed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Github</a:t>
            </a:r>
            <a:endParaRPr/>
          </a:p>
        </p:txBody>
      </p:sp>
      <p:sp>
        <p:nvSpPr>
          <p:cNvPr id="110" name="Google Shape;110;p5"/>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A website and project hosting service built on the Git version control system</a:t>
            </a:r>
            <a:endParaRPr/>
          </a:p>
          <a:p>
            <a:pPr indent="-311150" lvl="0" marL="457200" rtl="0" algn="l">
              <a:lnSpc>
                <a:spcPct val="115000"/>
              </a:lnSpc>
              <a:spcBef>
                <a:spcPts val="0"/>
              </a:spcBef>
              <a:spcAft>
                <a:spcPts val="0"/>
              </a:spcAft>
              <a:buSzPts val="1300"/>
              <a:buChar char="●"/>
            </a:pPr>
            <a:r>
              <a:rPr lang="en"/>
              <a:t>Provides an online suite of tools that include cloud storage, hosting of projects, rendering of geojson data, etc. (</a:t>
            </a:r>
            <a:r>
              <a:rPr i="1" lang="en"/>
              <a:t>there’s a lot out there</a:t>
            </a:r>
            <a:r>
              <a:rPr lang="en"/>
              <a:t>)</a:t>
            </a:r>
            <a:endParaRPr/>
          </a:p>
          <a:p>
            <a:pPr indent="-311150" lvl="0" marL="457200" rtl="0" algn="l">
              <a:lnSpc>
                <a:spcPct val="115000"/>
              </a:lnSpc>
              <a:spcBef>
                <a:spcPts val="0"/>
              </a:spcBef>
              <a:spcAft>
                <a:spcPts val="0"/>
              </a:spcAft>
              <a:buSzPts val="1300"/>
              <a:buChar char="●"/>
            </a:pPr>
            <a:r>
              <a:rPr lang="en"/>
              <a:t>One of the most common sites to store, share, and collaborate on open-source projects</a:t>
            </a:r>
            <a:endParaRPr/>
          </a:p>
          <a:p>
            <a:pPr indent="-311150" lvl="0" marL="457200" rtl="0" algn="l">
              <a:lnSpc>
                <a:spcPct val="115000"/>
              </a:lnSpc>
              <a:spcBef>
                <a:spcPts val="0"/>
              </a:spcBef>
              <a:spcAft>
                <a:spcPts val="0"/>
              </a:spcAft>
              <a:buSzPts val="1300"/>
              <a:buChar char="●"/>
            </a:pPr>
            <a:r>
              <a:rPr lang="en"/>
              <a:t>Basic element is the </a:t>
            </a:r>
            <a:r>
              <a:rPr b="1" lang="en"/>
              <a:t>repository</a:t>
            </a:r>
            <a:endParaRPr b="1"/>
          </a:p>
        </p:txBody>
      </p:sp>
      <p:pic>
        <p:nvPicPr>
          <p:cNvPr id="111" name="Google Shape;111;p5"/>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Github</a:t>
            </a:r>
            <a:endParaRPr/>
          </a:p>
        </p:txBody>
      </p:sp>
      <p:sp>
        <p:nvSpPr>
          <p:cNvPr id="117" name="Google Shape;117;p6"/>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a:t>Repository -</a:t>
            </a:r>
            <a:endParaRPr/>
          </a:p>
          <a:p>
            <a:pPr indent="-311150" lvl="0" marL="457200" rtl="0" algn="l">
              <a:lnSpc>
                <a:spcPct val="115000"/>
              </a:lnSpc>
              <a:spcBef>
                <a:spcPts val="1200"/>
              </a:spcBef>
              <a:spcAft>
                <a:spcPts val="0"/>
              </a:spcAft>
              <a:buSzPts val="1300"/>
              <a:buChar char="●"/>
            </a:pPr>
            <a:r>
              <a:rPr lang="en"/>
              <a:t>Can be thought of as a your project’s folder or directory (but can contain many sub-folders and so on)</a:t>
            </a:r>
            <a:endParaRPr/>
          </a:p>
          <a:p>
            <a:pPr indent="-311150" lvl="0" marL="457200" rtl="0" algn="l">
              <a:lnSpc>
                <a:spcPct val="115000"/>
              </a:lnSpc>
              <a:spcBef>
                <a:spcPts val="0"/>
              </a:spcBef>
              <a:spcAft>
                <a:spcPts val="0"/>
              </a:spcAft>
              <a:buSzPts val="1300"/>
              <a:buChar char="●"/>
            </a:pPr>
            <a:r>
              <a:rPr lang="en"/>
              <a:t>Basic interactions are </a:t>
            </a:r>
            <a:r>
              <a:rPr b="1" lang="en"/>
              <a:t>cloning, committing, pushing, pulling, and forking</a:t>
            </a:r>
            <a:r>
              <a:rPr lang="en"/>
              <a:t>.</a:t>
            </a:r>
            <a:endParaRPr/>
          </a:p>
          <a:p>
            <a:pPr indent="0" lvl="0" marL="0" rtl="0" algn="l">
              <a:lnSpc>
                <a:spcPct val="115000"/>
              </a:lnSpc>
              <a:spcBef>
                <a:spcPts val="1200"/>
              </a:spcBef>
              <a:spcAft>
                <a:spcPts val="1200"/>
              </a:spcAft>
              <a:buSzPts val="1300"/>
              <a:buNone/>
            </a:pPr>
            <a:r>
              <a:t/>
            </a:r>
            <a:endParaRPr/>
          </a:p>
        </p:txBody>
      </p:sp>
      <p:pic>
        <p:nvPicPr>
          <p:cNvPr id="118" name="Google Shape;118;p6"/>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Github</a:t>
            </a:r>
            <a:endParaRPr/>
          </a:p>
        </p:txBody>
      </p:sp>
      <p:sp>
        <p:nvSpPr>
          <p:cNvPr id="124" name="Google Shape;124;p7"/>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a:t>Cloning -</a:t>
            </a:r>
            <a:endParaRPr/>
          </a:p>
          <a:p>
            <a:pPr indent="-311150" lvl="0" marL="457200" rtl="0" algn="l">
              <a:lnSpc>
                <a:spcPct val="115000"/>
              </a:lnSpc>
              <a:spcBef>
                <a:spcPts val="1200"/>
              </a:spcBef>
              <a:spcAft>
                <a:spcPts val="0"/>
              </a:spcAft>
              <a:buSzPts val="1300"/>
              <a:buChar char="●"/>
            </a:pPr>
            <a:r>
              <a:rPr lang="en"/>
              <a:t>A copy of a repository that is on your computer instead of a website’s server. You can edit these files and then </a:t>
            </a:r>
            <a:r>
              <a:rPr b="1" lang="en"/>
              <a:t>commit </a:t>
            </a:r>
            <a:r>
              <a:rPr lang="en"/>
              <a:t>them using Git to track changes. </a:t>
            </a:r>
            <a:endParaRPr/>
          </a:p>
          <a:p>
            <a:pPr indent="0" lvl="0" marL="0" rtl="0" algn="l">
              <a:lnSpc>
                <a:spcPct val="115000"/>
              </a:lnSpc>
              <a:spcBef>
                <a:spcPts val="1200"/>
              </a:spcBef>
              <a:spcAft>
                <a:spcPts val="0"/>
              </a:spcAft>
              <a:buSzPts val="1300"/>
              <a:buNone/>
            </a:pPr>
            <a:r>
              <a:t/>
            </a:r>
            <a:endParaRPr/>
          </a:p>
          <a:p>
            <a:pPr indent="0" lvl="0" marL="0" rtl="0" algn="l">
              <a:lnSpc>
                <a:spcPct val="115000"/>
              </a:lnSpc>
              <a:spcBef>
                <a:spcPts val="1200"/>
              </a:spcBef>
              <a:spcAft>
                <a:spcPts val="1200"/>
              </a:spcAft>
              <a:buSzPts val="1300"/>
              <a:buNone/>
            </a:pPr>
            <a:r>
              <a:t/>
            </a:r>
            <a:endParaRPr/>
          </a:p>
        </p:txBody>
      </p:sp>
      <p:pic>
        <p:nvPicPr>
          <p:cNvPr id="125" name="Google Shape;125;p7"/>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Github</a:t>
            </a:r>
            <a:endParaRPr/>
          </a:p>
        </p:txBody>
      </p:sp>
      <p:sp>
        <p:nvSpPr>
          <p:cNvPr id="131" name="Google Shape;131;p8"/>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b="1" lang="en"/>
              <a:t>Committing -</a:t>
            </a:r>
            <a:endParaRPr/>
          </a:p>
          <a:p>
            <a:pPr indent="-298767" lvl="0" marL="457200" rtl="0" algn="l">
              <a:lnSpc>
                <a:spcPct val="115000"/>
              </a:lnSpc>
              <a:spcBef>
                <a:spcPts val="1200"/>
              </a:spcBef>
              <a:spcAft>
                <a:spcPts val="0"/>
              </a:spcAft>
              <a:buSzPct val="100000"/>
              <a:buChar char="●"/>
            </a:pPr>
            <a:r>
              <a:rPr lang="en"/>
              <a:t>When you </a:t>
            </a:r>
            <a:r>
              <a:rPr b="1" lang="en"/>
              <a:t>commit</a:t>
            </a:r>
            <a:r>
              <a:rPr lang="en"/>
              <a:t> a set of files using Git, you are saving a snapshot of that file with a unique ID. All of these snapshots are tracked, so if you make a </a:t>
            </a:r>
            <a:r>
              <a:rPr i="1" lang="en"/>
              <a:t>big mistake</a:t>
            </a:r>
            <a:r>
              <a:rPr lang="en"/>
              <a:t> you can always revert to an earlier version.</a:t>
            </a:r>
            <a:br>
              <a:rPr lang="en"/>
            </a:br>
            <a:endParaRPr/>
          </a:p>
          <a:p>
            <a:pPr indent="-298767" lvl="0" marL="457200" rtl="0" algn="l">
              <a:lnSpc>
                <a:spcPct val="115000"/>
              </a:lnSpc>
              <a:spcBef>
                <a:spcPts val="0"/>
              </a:spcBef>
              <a:spcAft>
                <a:spcPts val="0"/>
              </a:spcAft>
              <a:buSzPct val="100000"/>
              <a:buChar char="●"/>
            </a:pPr>
            <a:r>
              <a:rPr lang="en"/>
              <a:t>As they say, commit early and commit often.</a:t>
            </a:r>
            <a:endParaRPr/>
          </a:p>
          <a:p>
            <a:pPr indent="0" lvl="0" marL="0" rtl="0" algn="l">
              <a:lnSpc>
                <a:spcPct val="115000"/>
              </a:lnSpc>
              <a:spcBef>
                <a:spcPts val="1200"/>
              </a:spcBef>
              <a:spcAft>
                <a:spcPts val="0"/>
              </a:spcAft>
              <a:buSzPct val="117647"/>
              <a:buNone/>
            </a:pPr>
            <a:r>
              <a:t/>
            </a:r>
            <a:endParaRPr/>
          </a:p>
          <a:p>
            <a:pPr indent="0" lvl="0" marL="0" rtl="0" algn="l">
              <a:lnSpc>
                <a:spcPct val="115000"/>
              </a:lnSpc>
              <a:spcBef>
                <a:spcPts val="1200"/>
              </a:spcBef>
              <a:spcAft>
                <a:spcPts val="1200"/>
              </a:spcAft>
              <a:buSzPct val="117647"/>
              <a:buNone/>
            </a:pPr>
            <a:r>
              <a:t/>
            </a:r>
            <a:endParaRPr/>
          </a:p>
        </p:txBody>
      </p:sp>
      <p:pic>
        <p:nvPicPr>
          <p:cNvPr id="132" name="Google Shape;132;p8"/>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Github</a:t>
            </a:r>
            <a:endParaRPr/>
          </a:p>
        </p:txBody>
      </p:sp>
      <p:sp>
        <p:nvSpPr>
          <p:cNvPr id="138" name="Google Shape;138;p9"/>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b="1" lang="en"/>
              <a:t>Pushing-</a:t>
            </a:r>
            <a:endParaRPr/>
          </a:p>
          <a:p>
            <a:pPr indent="-311150" lvl="0" marL="457200" rtl="0" algn="l">
              <a:lnSpc>
                <a:spcPct val="115000"/>
              </a:lnSpc>
              <a:spcBef>
                <a:spcPts val="1200"/>
              </a:spcBef>
              <a:spcAft>
                <a:spcPts val="0"/>
              </a:spcAft>
              <a:buSzPts val="1300"/>
              <a:buChar char="●"/>
            </a:pPr>
            <a:r>
              <a:rPr lang="en"/>
              <a:t>Refers to sending committed changes to a remote repository.</a:t>
            </a:r>
            <a:endParaRPr/>
          </a:p>
          <a:p>
            <a:pPr indent="-311150" lvl="0" marL="457200" rtl="0" algn="l">
              <a:lnSpc>
                <a:spcPct val="115000"/>
              </a:lnSpc>
              <a:spcBef>
                <a:spcPts val="0"/>
              </a:spcBef>
              <a:spcAft>
                <a:spcPts val="0"/>
              </a:spcAft>
              <a:buSzPts val="1300"/>
              <a:buChar char="●"/>
            </a:pPr>
            <a:r>
              <a:rPr lang="en"/>
              <a:t>In this class, that will (almost always) be github.</a:t>
            </a:r>
            <a:br>
              <a:rPr lang="en"/>
            </a:br>
            <a:endParaRPr/>
          </a:p>
          <a:p>
            <a:pPr indent="0" lvl="0" marL="0" rtl="0" algn="l">
              <a:lnSpc>
                <a:spcPct val="115000"/>
              </a:lnSpc>
              <a:spcBef>
                <a:spcPts val="1200"/>
              </a:spcBef>
              <a:spcAft>
                <a:spcPts val="1200"/>
              </a:spcAft>
              <a:buSzPts val="1300"/>
              <a:buNone/>
            </a:pPr>
            <a:r>
              <a:t/>
            </a:r>
            <a:endParaRPr/>
          </a:p>
        </p:txBody>
      </p:sp>
      <p:pic>
        <p:nvPicPr>
          <p:cNvPr id="139" name="Google Shape;139;p9"/>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Wait… what?</a:t>
            </a:r>
            <a:endParaRPr/>
          </a:p>
        </p:txBody>
      </p:sp>
      <p:sp>
        <p:nvSpPr>
          <p:cNvPr id="145" name="Google Shape;145;p10"/>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85000" lnSpcReduction="10000"/>
          </a:bodyPr>
          <a:lstStyle/>
          <a:p>
            <a:pPr indent="0" lvl="0" marL="457200" rtl="0" algn="l">
              <a:lnSpc>
                <a:spcPct val="115000"/>
              </a:lnSpc>
              <a:spcBef>
                <a:spcPts val="0"/>
              </a:spcBef>
              <a:spcAft>
                <a:spcPts val="0"/>
              </a:spcAft>
              <a:buSzPct val="117647"/>
              <a:buNone/>
            </a:pPr>
            <a:r>
              <a:rPr b="1" lang="en"/>
              <a:t>Github and git can be very confusing.</a:t>
            </a:r>
            <a:endParaRPr b="1"/>
          </a:p>
          <a:p>
            <a:pPr indent="-298767" lvl="0" marL="457200" rtl="0" algn="l">
              <a:lnSpc>
                <a:spcPct val="115000"/>
              </a:lnSpc>
              <a:spcBef>
                <a:spcPts val="1200"/>
              </a:spcBef>
              <a:spcAft>
                <a:spcPts val="0"/>
              </a:spcAft>
              <a:buSzPct val="100000"/>
              <a:buChar char="●"/>
            </a:pPr>
            <a:r>
              <a:rPr lang="en"/>
              <a:t>Git is a tool developed by Linus Torvalds (think linux) that handles distributed version control.</a:t>
            </a:r>
            <a:br>
              <a:rPr lang="en"/>
            </a:br>
            <a:endParaRPr/>
          </a:p>
          <a:p>
            <a:pPr indent="-298767" lvl="0" marL="457200" rtl="0" algn="l">
              <a:lnSpc>
                <a:spcPct val="115000"/>
              </a:lnSpc>
              <a:spcBef>
                <a:spcPts val="0"/>
              </a:spcBef>
              <a:spcAft>
                <a:spcPts val="0"/>
              </a:spcAft>
              <a:buSzPct val="100000"/>
              <a:buChar char="●"/>
            </a:pPr>
            <a:r>
              <a:rPr lang="en"/>
              <a:t>Github is a wonderful website, now owned by Microsoft, that allows for easy storing and sharing of git repositories on the web (and a lot more)</a:t>
            </a:r>
            <a:br>
              <a:rPr lang="en"/>
            </a:br>
            <a:endParaRPr/>
          </a:p>
          <a:p>
            <a:pPr indent="0" lvl="0" marL="0" rtl="0" algn="l">
              <a:lnSpc>
                <a:spcPct val="115000"/>
              </a:lnSpc>
              <a:spcBef>
                <a:spcPts val="1200"/>
              </a:spcBef>
              <a:spcAft>
                <a:spcPts val="1200"/>
              </a:spcAft>
              <a:buSzPct val="117647"/>
              <a:buNone/>
            </a:pPr>
            <a:r>
              <a:rPr lang="en"/>
              <a:t>If that’s not clear right now, </a:t>
            </a:r>
            <a:r>
              <a:rPr b="1" lang="en"/>
              <a:t>that’s ok</a:t>
            </a:r>
            <a:r>
              <a:rPr lang="en"/>
              <a:t>. We’ll have </a:t>
            </a:r>
            <a:r>
              <a:rPr i="1" lang="en"/>
              <a:t>ample</a:t>
            </a:r>
            <a:r>
              <a:rPr lang="en"/>
              <a:t> opportunities to work through this (including your first lab).</a:t>
            </a:r>
            <a:endParaRPr/>
          </a:p>
        </p:txBody>
      </p:sp>
      <p:pic>
        <p:nvPicPr>
          <p:cNvPr id="146" name="Google Shape;146;p10"/>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An imagined workflow</a:t>
            </a:r>
            <a:endParaRPr/>
          </a:p>
        </p:txBody>
      </p:sp>
      <p:sp>
        <p:nvSpPr>
          <p:cNvPr id="152" name="Google Shape;152;p11"/>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85000" lnSpcReduction="10000"/>
          </a:bodyPr>
          <a:lstStyle/>
          <a:p>
            <a:pPr indent="-298767" lvl="0" marL="457200" rtl="0" algn="l">
              <a:lnSpc>
                <a:spcPct val="115000"/>
              </a:lnSpc>
              <a:spcBef>
                <a:spcPts val="0"/>
              </a:spcBef>
              <a:spcAft>
                <a:spcPts val="0"/>
              </a:spcAft>
              <a:buSzPct val="100000"/>
              <a:buChar char="●"/>
            </a:pPr>
            <a:r>
              <a:rPr lang="en"/>
              <a:t>I make a cool program (cool_program.js)</a:t>
            </a:r>
            <a:endParaRPr/>
          </a:p>
          <a:p>
            <a:pPr indent="-298767" lvl="0" marL="457200" rtl="0" algn="l">
              <a:lnSpc>
                <a:spcPct val="115000"/>
              </a:lnSpc>
              <a:spcBef>
                <a:spcPts val="0"/>
              </a:spcBef>
              <a:spcAft>
                <a:spcPts val="0"/>
              </a:spcAft>
              <a:buSzPct val="100000"/>
              <a:buChar char="●"/>
            </a:pPr>
            <a:r>
              <a:rPr lang="en"/>
              <a:t>I </a:t>
            </a:r>
            <a:r>
              <a:rPr b="1" lang="en"/>
              <a:t>commit</a:t>
            </a:r>
            <a:r>
              <a:rPr lang="en"/>
              <a:t> it locally and </a:t>
            </a:r>
            <a:r>
              <a:rPr b="1" lang="en"/>
              <a:t>push</a:t>
            </a:r>
            <a:r>
              <a:rPr lang="en"/>
              <a:t> it to GitHub</a:t>
            </a:r>
            <a:endParaRPr/>
          </a:p>
          <a:p>
            <a:pPr indent="-298767" lvl="0" marL="457200" rtl="0" algn="l">
              <a:lnSpc>
                <a:spcPct val="115000"/>
              </a:lnSpc>
              <a:spcBef>
                <a:spcPts val="0"/>
              </a:spcBef>
              <a:spcAft>
                <a:spcPts val="0"/>
              </a:spcAft>
              <a:buSzPct val="100000"/>
              <a:buChar char="●"/>
            </a:pPr>
            <a:r>
              <a:rPr lang="en"/>
              <a:t>You see something wrong with it! You </a:t>
            </a:r>
            <a:r>
              <a:rPr b="1" lang="en"/>
              <a:t>fork</a:t>
            </a:r>
            <a:r>
              <a:rPr lang="en"/>
              <a:t> the code and </a:t>
            </a:r>
            <a:r>
              <a:rPr b="1" lang="en"/>
              <a:t>clone</a:t>
            </a:r>
            <a:r>
              <a:rPr lang="en"/>
              <a:t> it to your computer to work on it.</a:t>
            </a:r>
            <a:endParaRPr/>
          </a:p>
          <a:p>
            <a:pPr indent="-298767" lvl="0" marL="457200" rtl="0" algn="l">
              <a:lnSpc>
                <a:spcPct val="115000"/>
              </a:lnSpc>
              <a:spcBef>
                <a:spcPts val="0"/>
              </a:spcBef>
              <a:spcAft>
                <a:spcPts val="0"/>
              </a:spcAft>
              <a:buSzPct val="100000"/>
              <a:buChar char="●"/>
            </a:pPr>
            <a:r>
              <a:rPr lang="en"/>
              <a:t>You fix it, </a:t>
            </a:r>
            <a:r>
              <a:rPr b="1" lang="en"/>
              <a:t>commit</a:t>
            </a:r>
            <a:r>
              <a:rPr lang="en"/>
              <a:t> and </a:t>
            </a:r>
            <a:r>
              <a:rPr b="1" lang="en"/>
              <a:t>push</a:t>
            </a:r>
            <a:r>
              <a:rPr lang="en"/>
              <a:t> it to your branch of the repository (here, a forked repo).</a:t>
            </a:r>
            <a:endParaRPr/>
          </a:p>
          <a:p>
            <a:pPr indent="-298767" lvl="0" marL="457200" rtl="0" algn="l">
              <a:lnSpc>
                <a:spcPct val="115000"/>
              </a:lnSpc>
              <a:spcBef>
                <a:spcPts val="0"/>
              </a:spcBef>
              <a:spcAft>
                <a:spcPts val="0"/>
              </a:spcAft>
              <a:buSzPct val="100000"/>
              <a:buChar char="●"/>
            </a:pPr>
            <a:r>
              <a:rPr lang="en"/>
              <a:t>You submit a </a:t>
            </a:r>
            <a:r>
              <a:rPr b="1" lang="en"/>
              <a:t>pull request</a:t>
            </a:r>
            <a:r>
              <a:rPr lang="en"/>
              <a:t> that notifies me of your fix.</a:t>
            </a:r>
            <a:endParaRPr/>
          </a:p>
          <a:p>
            <a:pPr indent="-298767" lvl="0" marL="457200" rtl="0" algn="l">
              <a:lnSpc>
                <a:spcPct val="115000"/>
              </a:lnSpc>
              <a:spcBef>
                <a:spcPts val="0"/>
              </a:spcBef>
              <a:spcAft>
                <a:spcPts val="0"/>
              </a:spcAft>
              <a:buSzPct val="100000"/>
              <a:buChar char="●"/>
            </a:pPr>
            <a:r>
              <a:rPr lang="en"/>
              <a:t>I review it, we talk, and eventually I merge your branch back into the main one.</a:t>
            </a:r>
            <a:endParaRPr/>
          </a:p>
          <a:p>
            <a:pPr indent="-298767" lvl="0" marL="457200" rtl="0" algn="l">
              <a:lnSpc>
                <a:spcPct val="115000"/>
              </a:lnSpc>
              <a:spcBef>
                <a:spcPts val="0"/>
              </a:spcBef>
              <a:spcAft>
                <a:spcPts val="0"/>
              </a:spcAft>
              <a:buSzPct val="100000"/>
              <a:buChar char="●"/>
            </a:pPr>
            <a:r>
              <a:rPr lang="en"/>
              <a:t>Boom! Collaboration!</a:t>
            </a:r>
            <a:endParaRPr/>
          </a:p>
        </p:txBody>
      </p:sp>
      <p:pic>
        <p:nvPicPr>
          <p:cNvPr id="153" name="Google Shape;153;p11"/>
          <p:cNvPicPr preferRelativeResize="0"/>
          <p:nvPr/>
        </p:nvPicPr>
        <p:blipFill rotWithShape="1">
          <a:blip r:embed="rId3">
            <a:alphaModFix/>
          </a:blip>
          <a:srcRect b="0" l="0" r="0" t="0"/>
          <a:stretch/>
        </p:blipFill>
        <p:spPr>
          <a:xfrm>
            <a:off x="5353525" y="1853850"/>
            <a:ext cx="3064626" cy="30646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Git is optional…</a:t>
            </a:r>
            <a:endParaRPr/>
          </a:p>
        </p:txBody>
      </p:sp>
      <p:sp>
        <p:nvSpPr>
          <p:cNvPr id="159" name="Google Shape;159;p12"/>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77500" lnSpcReduction="20000"/>
          </a:bodyPr>
          <a:lstStyle/>
          <a:p>
            <a:pPr indent="-292607" lvl="0" marL="457200" rtl="0" algn="l">
              <a:lnSpc>
                <a:spcPct val="115000"/>
              </a:lnSpc>
              <a:spcBef>
                <a:spcPts val="0"/>
              </a:spcBef>
              <a:spcAft>
                <a:spcPts val="0"/>
              </a:spcAft>
              <a:buSzPct val="100000"/>
              <a:buChar char="●"/>
            </a:pPr>
            <a:r>
              <a:rPr lang="en"/>
              <a:t>As you will shortly see, there are multiple ways to interact with GitHub.</a:t>
            </a:r>
            <a:endParaRPr/>
          </a:p>
          <a:p>
            <a:pPr indent="-292607" lvl="0" marL="457200" rtl="0" algn="l">
              <a:lnSpc>
                <a:spcPct val="115000"/>
              </a:lnSpc>
              <a:spcBef>
                <a:spcPts val="0"/>
              </a:spcBef>
              <a:spcAft>
                <a:spcPts val="0"/>
              </a:spcAft>
              <a:buSzPct val="100000"/>
              <a:buChar char="●"/>
            </a:pPr>
            <a:r>
              <a:rPr lang="en"/>
              <a:t>One common way is through Git which you interact with using the command line.</a:t>
            </a:r>
            <a:endParaRPr/>
          </a:p>
          <a:p>
            <a:pPr indent="-292607" lvl="0" marL="457200" rtl="0" algn="l">
              <a:lnSpc>
                <a:spcPct val="115000"/>
              </a:lnSpc>
              <a:spcBef>
                <a:spcPts val="0"/>
              </a:spcBef>
              <a:spcAft>
                <a:spcPts val="0"/>
              </a:spcAft>
              <a:buSzPct val="100000"/>
              <a:buChar char="●"/>
            </a:pPr>
            <a:r>
              <a:rPr lang="en"/>
              <a:t>Another is using the desktop github applications.</a:t>
            </a:r>
            <a:endParaRPr/>
          </a:p>
          <a:p>
            <a:pPr indent="-292607" lvl="0" marL="457200" rtl="0" algn="l">
              <a:lnSpc>
                <a:spcPct val="115000"/>
              </a:lnSpc>
              <a:spcBef>
                <a:spcPts val="0"/>
              </a:spcBef>
              <a:spcAft>
                <a:spcPts val="0"/>
              </a:spcAft>
              <a:buSzPct val="100000"/>
              <a:buChar char="●"/>
            </a:pPr>
            <a:r>
              <a:rPr lang="en"/>
              <a:t>A third would be simply using the web (this is awkward and not advised!)</a:t>
            </a:r>
            <a:endParaRPr/>
          </a:p>
          <a:p>
            <a:pPr indent="-292607" lvl="0" marL="457200" rtl="0" algn="l">
              <a:lnSpc>
                <a:spcPct val="115000"/>
              </a:lnSpc>
              <a:spcBef>
                <a:spcPts val="0"/>
              </a:spcBef>
              <a:spcAft>
                <a:spcPts val="0"/>
              </a:spcAft>
              <a:buSzPct val="100000"/>
              <a:buChar char="●"/>
            </a:pPr>
            <a:r>
              <a:rPr b="1" lang="en"/>
              <a:t>I strongly recommend using command line Git, will be using it myself, and will use it in demonstrations.</a:t>
            </a:r>
            <a:br>
              <a:rPr b="1" lang="en"/>
            </a:br>
            <a:endParaRPr b="1"/>
          </a:p>
          <a:p>
            <a:pPr indent="-292607" lvl="0" marL="457200" rtl="0" algn="l">
              <a:lnSpc>
                <a:spcPct val="115000"/>
              </a:lnSpc>
              <a:spcBef>
                <a:spcPts val="0"/>
              </a:spcBef>
              <a:spcAft>
                <a:spcPts val="0"/>
              </a:spcAft>
              <a:buSzPct val="100000"/>
              <a:buChar char="●"/>
            </a:pPr>
            <a:r>
              <a:rPr b="1" lang="en"/>
              <a:t>But, you are free to use whatever is most comfortable for you. </a:t>
            </a:r>
            <a:endParaRPr b="1"/>
          </a:p>
          <a:p>
            <a:pPr indent="-292607" lvl="0" marL="457200" rtl="0" algn="l">
              <a:lnSpc>
                <a:spcPct val="115000"/>
              </a:lnSpc>
              <a:spcBef>
                <a:spcPts val="0"/>
              </a:spcBef>
              <a:spcAft>
                <a:spcPts val="0"/>
              </a:spcAft>
              <a:buSzPct val="100000"/>
              <a:buChar char="●"/>
            </a:pPr>
            <a:r>
              <a:rPr lang="en"/>
              <a:t>You’ll learn more about these differences as we move along.</a:t>
            </a:r>
            <a:endParaRPr/>
          </a:p>
        </p:txBody>
      </p:sp>
      <p:pic>
        <p:nvPicPr>
          <p:cNvPr id="160" name="Google Shape;160;p12"/>
          <p:cNvPicPr preferRelativeResize="0"/>
          <p:nvPr/>
        </p:nvPicPr>
        <p:blipFill rotWithShape="1">
          <a:blip r:embed="rId3">
            <a:alphaModFix/>
          </a:blip>
          <a:srcRect b="0" l="0" r="0" t="0"/>
          <a:stretch/>
        </p:blipFill>
        <p:spPr>
          <a:xfrm>
            <a:off x="4559200" y="2022900"/>
            <a:ext cx="4584801" cy="26864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Visual Studio Code</a:t>
            </a:r>
            <a:endParaRPr/>
          </a:p>
        </p:txBody>
      </p:sp>
      <p:sp>
        <p:nvSpPr>
          <p:cNvPr id="166" name="Google Shape;166;p13"/>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92500" lnSpcReduction="20000"/>
          </a:bodyPr>
          <a:lstStyle/>
          <a:p>
            <a:pPr indent="-304989" lvl="0" marL="457200" rtl="0" algn="l">
              <a:lnSpc>
                <a:spcPct val="115000"/>
              </a:lnSpc>
              <a:spcBef>
                <a:spcPts val="0"/>
              </a:spcBef>
              <a:spcAft>
                <a:spcPts val="0"/>
              </a:spcAft>
              <a:buSzPct val="100000"/>
              <a:buChar char="●"/>
            </a:pPr>
            <a:r>
              <a:rPr lang="en"/>
              <a:t>Visual Studio Code is </a:t>
            </a:r>
            <a:r>
              <a:rPr i="1" lang="en"/>
              <a:t>another</a:t>
            </a:r>
            <a:r>
              <a:rPr lang="en"/>
              <a:t> open source development tool… owned by Microsoft.</a:t>
            </a:r>
            <a:endParaRPr/>
          </a:p>
          <a:p>
            <a:pPr indent="-304989" lvl="0" marL="457200" rtl="0" algn="l">
              <a:lnSpc>
                <a:spcPct val="115000"/>
              </a:lnSpc>
              <a:spcBef>
                <a:spcPts val="0"/>
              </a:spcBef>
              <a:spcAft>
                <a:spcPts val="0"/>
              </a:spcAft>
              <a:buSzPct val="100000"/>
              <a:buChar char="●"/>
            </a:pPr>
            <a:r>
              <a:rPr lang="en"/>
              <a:t>If you’re familiar with the atom project, this is the replacement (more or less). </a:t>
            </a:r>
            <a:endParaRPr/>
          </a:p>
          <a:p>
            <a:pPr indent="-304989" lvl="0" marL="457200" rtl="0" algn="l">
              <a:lnSpc>
                <a:spcPct val="115000"/>
              </a:lnSpc>
              <a:spcBef>
                <a:spcPts val="0"/>
              </a:spcBef>
              <a:spcAft>
                <a:spcPts val="0"/>
              </a:spcAft>
              <a:buSzPct val="100000"/>
              <a:buChar char="●"/>
            </a:pPr>
            <a:r>
              <a:rPr lang="en"/>
              <a:t>If you’re not, it’s a lightweight code editor that runs on your desktop.</a:t>
            </a:r>
            <a:endParaRPr/>
          </a:p>
          <a:p>
            <a:pPr indent="-304989" lvl="0" marL="457200" rtl="0" algn="l">
              <a:lnSpc>
                <a:spcPct val="115000"/>
              </a:lnSpc>
              <a:spcBef>
                <a:spcPts val="0"/>
              </a:spcBef>
              <a:spcAft>
                <a:spcPts val="0"/>
              </a:spcAft>
              <a:buSzPct val="100000"/>
              <a:buChar char="●"/>
            </a:pPr>
            <a:r>
              <a:rPr lang="en"/>
              <a:t>It has streamlined debugging, git integration, and a host of other features that make it an excellent tool for web development</a:t>
            </a:r>
            <a:br>
              <a:rPr lang="en"/>
            </a:br>
            <a:endParaRPr/>
          </a:p>
          <a:p>
            <a:pPr indent="0" lvl="0" marL="0" rtl="0" algn="l">
              <a:lnSpc>
                <a:spcPct val="115000"/>
              </a:lnSpc>
              <a:spcBef>
                <a:spcPts val="1200"/>
              </a:spcBef>
              <a:spcAft>
                <a:spcPts val="1200"/>
              </a:spcAft>
              <a:buSzPct val="108108"/>
              <a:buNone/>
            </a:pPr>
            <a:r>
              <a:t/>
            </a:r>
            <a:endParaRPr/>
          </a:p>
        </p:txBody>
      </p:sp>
      <p:pic>
        <p:nvPicPr>
          <p:cNvPr id="167" name="Google Shape;167;p13"/>
          <p:cNvPicPr preferRelativeResize="0"/>
          <p:nvPr/>
        </p:nvPicPr>
        <p:blipFill rotWithShape="1">
          <a:blip r:embed="rId3">
            <a:alphaModFix/>
          </a:blip>
          <a:srcRect b="0" l="0" r="0" t="0"/>
          <a:stretch/>
        </p:blipFill>
        <p:spPr>
          <a:xfrm>
            <a:off x="5210216" y="1907325"/>
            <a:ext cx="2656135" cy="2880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tools we’ll mostly use - Visual Studio Code</a:t>
            </a:r>
            <a:endParaRPr/>
          </a:p>
        </p:txBody>
      </p:sp>
      <p:sp>
        <p:nvSpPr>
          <p:cNvPr id="173" name="Google Shape;173;p14"/>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85000" lnSpcReduction="20000"/>
          </a:bodyPr>
          <a:lstStyle/>
          <a:p>
            <a:pPr indent="-298767" lvl="0" marL="457200" rtl="0" algn="l">
              <a:lnSpc>
                <a:spcPct val="115000"/>
              </a:lnSpc>
              <a:spcBef>
                <a:spcPts val="0"/>
              </a:spcBef>
              <a:spcAft>
                <a:spcPts val="0"/>
              </a:spcAft>
              <a:buSzPct val="100000"/>
              <a:buChar char="●"/>
            </a:pPr>
            <a:r>
              <a:rPr lang="en"/>
              <a:t>Of particular importance for us:</a:t>
            </a:r>
            <a:endParaRPr/>
          </a:p>
          <a:p>
            <a:pPr indent="-288013" lvl="1" marL="914400" rtl="0" algn="l">
              <a:lnSpc>
                <a:spcPct val="115000"/>
              </a:lnSpc>
              <a:spcBef>
                <a:spcPts val="0"/>
              </a:spcBef>
              <a:spcAft>
                <a:spcPts val="0"/>
              </a:spcAft>
              <a:buSzPct val="76306"/>
              <a:buChar char="○"/>
            </a:pPr>
            <a:r>
              <a:rPr b="1" lang="en" sz="1441"/>
              <a:t>The Live Server Extension</a:t>
            </a:r>
            <a:br>
              <a:rPr b="1" lang="en"/>
            </a:br>
            <a:endParaRPr/>
          </a:p>
          <a:p>
            <a:pPr indent="-298767" lvl="0" marL="457200" rtl="0" algn="l">
              <a:lnSpc>
                <a:spcPct val="115000"/>
              </a:lnSpc>
              <a:spcBef>
                <a:spcPts val="0"/>
              </a:spcBef>
              <a:spcAft>
                <a:spcPts val="0"/>
              </a:spcAft>
              <a:buSzPct val="100000"/>
              <a:buChar char="●"/>
            </a:pPr>
            <a:r>
              <a:rPr lang="en"/>
              <a:t>This extension sets up a local web hosting server so that you can very quickly test out your code </a:t>
            </a:r>
            <a:r>
              <a:rPr b="1" lang="en"/>
              <a:t>without</a:t>
            </a:r>
            <a:r>
              <a:rPr lang="en"/>
              <a:t> having to upload it somewhere, etc.</a:t>
            </a:r>
            <a:br>
              <a:rPr lang="en"/>
            </a:br>
            <a:endParaRPr/>
          </a:p>
          <a:p>
            <a:pPr indent="-298767" lvl="0" marL="457200" rtl="0" algn="l">
              <a:lnSpc>
                <a:spcPct val="115000"/>
              </a:lnSpc>
              <a:spcBef>
                <a:spcPts val="0"/>
              </a:spcBef>
              <a:spcAft>
                <a:spcPts val="0"/>
              </a:spcAft>
              <a:buSzPct val="100000"/>
              <a:buChar char="●"/>
            </a:pPr>
            <a:r>
              <a:rPr lang="en"/>
              <a:t>While you can often run ‘static’ web pages locally without a server, the types of dynamic visualizations we’ll be doing require one.</a:t>
            </a:r>
            <a:br>
              <a:rPr lang="en"/>
            </a:br>
            <a:endParaRPr/>
          </a:p>
          <a:p>
            <a:pPr indent="0" lvl="0" marL="0" rtl="0" algn="l">
              <a:lnSpc>
                <a:spcPct val="115000"/>
              </a:lnSpc>
              <a:spcBef>
                <a:spcPts val="1200"/>
              </a:spcBef>
              <a:spcAft>
                <a:spcPts val="1200"/>
              </a:spcAft>
              <a:buSzPct val="117647"/>
              <a:buNone/>
            </a:pPr>
            <a:r>
              <a:t/>
            </a:r>
            <a:endParaRPr/>
          </a:p>
        </p:txBody>
      </p:sp>
      <p:pic>
        <p:nvPicPr>
          <p:cNvPr id="174" name="Google Shape;174;p14"/>
          <p:cNvPicPr preferRelativeResize="0"/>
          <p:nvPr/>
        </p:nvPicPr>
        <p:blipFill rotWithShape="1">
          <a:blip r:embed="rId3">
            <a:alphaModFix/>
          </a:blip>
          <a:srcRect b="0" l="0" r="0" t="0"/>
          <a:stretch/>
        </p:blipFill>
        <p:spPr>
          <a:xfrm>
            <a:off x="4572150" y="1937625"/>
            <a:ext cx="4267052" cy="284065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Last, but not least - QGIS</a:t>
            </a:r>
            <a:endParaRPr/>
          </a:p>
        </p:txBody>
      </p:sp>
      <p:sp>
        <p:nvSpPr>
          <p:cNvPr id="180" name="Google Shape;180;p15"/>
          <p:cNvSpPr txBox="1"/>
          <p:nvPr>
            <p:ph idx="1" type="body"/>
          </p:nvPr>
        </p:nvSpPr>
        <p:spPr>
          <a:xfrm>
            <a:off x="729450" y="2078875"/>
            <a:ext cx="3842700" cy="2261100"/>
          </a:xfrm>
          <a:prstGeom prst="rect">
            <a:avLst/>
          </a:prstGeom>
          <a:noFill/>
          <a:ln>
            <a:noFill/>
          </a:ln>
        </p:spPr>
        <p:txBody>
          <a:bodyPr anchorCtr="0" anchor="t" bIns="91425" lIns="91425" spcFirstLastPara="1" rIns="91425" wrap="square" tIns="91425">
            <a:normAutofit fontScale="92500" lnSpcReduction="10000"/>
          </a:bodyPr>
          <a:lstStyle/>
          <a:p>
            <a:pPr indent="-304958" lvl="0" marL="457200" rtl="0" algn="l">
              <a:lnSpc>
                <a:spcPct val="115000"/>
              </a:lnSpc>
              <a:spcBef>
                <a:spcPts val="0"/>
              </a:spcBef>
              <a:spcAft>
                <a:spcPts val="0"/>
              </a:spcAft>
              <a:buSzPct val="100000"/>
              <a:buChar char="●"/>
            </a:pPr>
            <a:r>
              <a:rPr lang="en"/>
              <a:t>… it’s basically open-source ArcGIS</a:t>
            </a:r>
            <a:endParaRPr/>
          </a:p>
          <a:p>
            <a:pPr indent="-304958" lvl="0" marL="457200" rtl="0" algn="l">
              <a:lnSpc>
                <a:spcPct val="115000"/>
              </a:lnSpc>
              <a:spcBef>
                <a:spcPts val="0"/>
              </a:spcBef>
              <a:spcAft>
                <a:spcPts val="0"/>
              </a:spcAft>
              <a:buSzPct val="100000"/>
              <a:buChar char="●"/>
            </a:pPr>
            <a:r>
              <a:rPr lang="en"/>
              <a:t>But, that means it has </a:t>
            </a:r>
            <a:r>
              <a:rPr i="1" lang="en"/>
              <a:t>a lot</a:t>
            </a:r>
            <a:r>
              <a:rPr lang="en"/>
              <a:t> of extensions and plug-ins that Arc might not…</a:t>
            </a:r>
            <a:endParaRPr/>
          </a:p>
          <a:p>
            <a:pPr indent="-304958" lvl="0" marL="457200" rtl="0" algn="l">
              <a:lnSpc>
                <a:spcPct val="115000"/>
              </a:lnSpc>
              <a:spcBef>
                <a:spcPts val="0"/>
              </a:spcBef>
              <a:spcAft>
                <a:spcPts val="0"/>
              </a:spcAft>
              <a:buSzPct val="100000"/>
              <a:buChar char="●"/>
            </a:pPr>
            <a:r>
              <a:rPr lang="en"/>
              <a:t>In your first lab, you use QGIS to make a web map. This is to give you a nice base familiarity.</a:t>
            </a:r>
            <a:endParaRPr/>
          </a:p>
          <a:p>
            <a:pPr indent="-304958" lvl="0" marL="457200" rtl="0" algn="l">
              <a:lnSpc>
                <a:spcPct val="115000"/>
              </a:lnSpc>
              <a:spcBef>
                <a:spcPts val="0"/>
              </a:spcBef>
              <a:spcAft>
                <a:spcPts val="0"/>
              </a:spcAft>
              <a:buSzPct val="100000"/>
              <a:buChar char="●"/>
            </a:pPr>
            <a:r>
              <a:rPr b="1" lang="en"/>
              <a:t>You are always welcome to use Arc (or any other tool, language, software, etc.) - unless explicitly told otherwise</a:t>
            </a:r>
            <a:br>
              <a:rPr lang="en"/>
            </a:br>
            <a:endParaRPr/>
          </a:p>
          <a:p>
            <a:pPr indent="0" lvl="0" marL="0" rtl="0" algn="l">
              <a:lnSpc>
                <a:spcPct val="115000"/>
              </a:lnSpc>
              <a:spcBef>
                <a:spcPts val="1200"/>
              </a:spcBef>
              <a:spcAft>
                <a:spcPts val="1200"/>
              </a:spcAft>
              <a:buSzPct val="100000"/>
              <a:buNone/>
            </a:pPr>
            <a:r>
              <a:t/>
            </a:r>
            <a:endParaRPr/>
          </a:p>
        </p:txBody>
      </p:sp>
      <p:pic>
        <p:nvPicPr>
          <p:cNvPr id="181" name="Google Shape;181;p15"/>
          <p:cNvPicPr preferRelativeResize="0"/>
          <p:nvPr/>
        </p:nvPicPr>
        <p:blipFill rotWithShape="1">
          <a:blip r:embed="rId3">
            <a:alphaModFix/>
          </a:blip>
          <a:srcRect b="0" l="0" r="0" t="0"/>
          <a:stretch/>
        </p:blipFill>
        <p:spPr>
          <a:xfrm>
            <a:off x="6011525" y="2078875"/>
            <a:ext cx="1892550" cy="1892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6"/>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Ok, one last, last, last thing… </a:t>
            </a:r>
            <a:endParaRPr/>
          </a:p>
        </p:txBody>
      </p:sp>
      <p:sp>
        <p:nvSpPr>
          <p:cNvPr id="187" name="Google Shape;187;p16"/>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78078"/>
              <a:buNone/>
            </a:pPr>
            <a:r>
              <a:rPr b="1" lang="en" sz="1800"/>
              <a:t>In this class, you are encouraged to make use of AI tools (like ChatGPT) to help with your </a:t>
            </a:r>
            <a:r>
              <a:rPr b="1" lang="en" sz="2500"/>
              <a:t>coding</a:t>
            </a:r>
            <a:r>
              <a:rPr b="1" lang="en" sz="1800"/>
              <a:t>. </a:t>
            </a:r>
            <a:r>
              <a:rPr lang="en" sz="1564"/>
              <a:t>You </a:t>
            </a:r>
            <a:r>
              <a:rPr i="1" lang="en" sz="1564"/>
              <a:t>must</a:t>
            </a:r>
            <a:r>
              <a:rPr lang="en" sz="1564"/>
              <a:t> disclose when you use it (just leave a comment in your code).</a:t>
            </a:r>
            <a:endParaRPr sz="1564"/>
          </a:p>
          <a:p>
            <a:pPr indent="0" lvl="0" marL="0" rtl="0" algn="l">
              <a:lnSpc>
                <a:spcPct val="115000"/>
              </a:lnSpc>
              <a:spcBef>
                <a:spcPts val="1200"/>
              </a:spcBef>
              <a:spcAft>
                <a:spcPts val="0"/>
              </a:spcAft>
              <a:buSzPct val="89859"/>
              <a:buNone/>
            </a:pPr>
            <a:r>
              <a:rPr lang="en" sz="1564"/>
              <a:t>We will discuss this more in the coming weeks (including examples of how I use it), but for now, two points:</a:t>
            </a:r>
            <a:endParaRPr sz="1564"/>
          </a:p>
          <a:p>
            <a:pPr indent="-302459" lvl="0" marL="457200" rtl="0" algn="l">
              <a:lnSpc>
                <a:spcPct val="115000"/>
              </a:lnSpc>
              <a:spcBef>
                <a:spcPts val="1200"/>
              </a:spcBef>
              <a:spcAft>
                <a:spcPts val="0"/>
              </a:spcAft>
              <a:buSzPct val="100000"/>
              <a:buAutoNum type="arabicPeriod"/>
            </a:pPr>
            <a:r>
              <a:rPr lang="en" sz="1256"/>
              <a:t>These early exercises are </a:t>
            </a:r>
            <a:r>
              <a:rPr b="1" lang="en" sz="1256"/>
              <a:t>fun</a:t>
            </a:r>
            <a:r>
              <a:rPr lang="en" sz="1256"/>
              <a:t>damental, so please do try them without tools at first.</a:t>
            </a:r>
            <a:endParaRPr sz="1256"/>
          </a:p>
          <a:p>
            <a:pPr indent="-302459" lvl="0" marL="457200" rtl="0" algn="l">
              <a:lnSpc>
                <a:spcPct val="115000"/>
              </a:lnSpc>
              <a:spcBef>
                <a:spcPts val="0"/>
              </a:spcBef>
              <a:spcAft>
                <a:spcPts val="0"/>
              </a:spcAft>
              <a:buSzPct val="100000"/>
              <a:buAutoNum type="arabicPeriod"/>
            </a:pPr>
            <a:r>
              <a:rPr lang="en" sz="1256"/>
              <a:t>When I say for </a:t>
            </a:r>
            <a:r>
              <a:rPr b="1" lang="en" sz="1256"/>
              <a:t>code</a:t>
            </a:r>
            <a:r>
              <a:rPr lang="en" sz="1256"/>
              <a:t>, I mean for code. Use AI for what it’s best at, use yourself for what you are. Write like a human because you are one, code like a machine because…</a:t>
            </a:r>
            <a:endParaRPr sz="1256"/>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7"/>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For now, an activity! </a:t>
            </a:r>
            <a:endParaRPr/>
          </a:p>
        </p:txBody>
      </p:sp>
      <p:sp>
        <p:nvSpPr>
          <p:cNvPr id="193" name="Google Shape;193;p17"/>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Let’s make a ‘first’ web page. </a:t>
            </a:r>
            <a:endParaRPr/>
          </a:p>
          <a:p>
            <a:pPr indent="-298450" lvl="1" marL="914400" rtl="0" algn="l">
              <a:lnSpc>
                <a:spcPct val="115000"/>
              </a:lnSpc>
              <a:spcBef>
                <a:spcPts val="0"/>
              </a:spcBef>
              <a:spcAft>
                <a:spcPts val="0"/>
              </a:spcAft>
              <a:buSzPts val="1100"/>
              <a:buChar char="○"/>
            </a:pPr>
            <a:r>
              <a:rPr lang="en"/>
              <a:t>Please note, this is very basic, if you are familiar with html and what not - </a:t>
            </a:r>
            <a:r>
              <a:rPr b="1" i="1" lang="en"/>
              <a:t>awesome</a:t>
            </a:r>
            <a:r>
              <a:rPr b="1" lang="en"/>
              <a:t>, feel encouraged to help others!</a:t>
            </a:r>
            <a:endParaRPr/>
          </a:p>
          <a:p>
            <a:pPr indent="-311150" lvl="0" marL="457200" rtl="0" algn="l">
              <a:lnSpc>
                <a:spcPct val="115000"/>
              </a:lnSpc>
              <a:spcBef>
                <a:spcPts val="0"/>
              </a:spcBef>
              <a:spcAft>
                <a:spcPts val="0"/>
              </a:spcAft>
              <a:buSzPts val="1300"/>
              <a:buChar char="●"/>
            </a:pPr>
            <a:r>
              <a:rPr lang="en"/>
              <a:t>Go to github.com and create a free github account.</a:t>
            </a:r>
            <a:endParaRPr/>
          </a:p>
          <a:p>
            <a:pPr indent="-298450" lvl="1" marL="914400" rtl="0" algn="l">
              <a:lnSpc>
                <a:spcPct val="115000"/>
              </a:lnSpc>
              <a:spcBef>
                <a:spcPts val="0"/>
              </a:spcBef>
              <a:spcAft>
                <a:spcPts val="0"/>
              </a:spcAft>
              <a:buSzPts val="1100"/>
              <a:buChar char="○"/>
            </a:pPr>
            <a:r>
              <a:rPr lang="en"/>
              <a:t>Once you’ve done so, email me - </a:t>
            </a:r>
            <a:r>
              <a:rPr lang="en" u="sng">
                <a:solidFill>
                  <a:schemeClr val="hlink"/>
                </a:solidFill>
                <a:hlinkClick r:id="rId3"/>
              </a:rPr>
              <a:t>thatchja@oregonstate.edu</a:t>
            </a:r>
            <a:r>
              <a:rPr lang="en"/>
              <a:t> - with either the email address you used or the username you chose.</a:t>
            </a:r>
            <a:endParaRPr/>
          </a:p>
          <a:p>
            <a:pPr indent="-298450" lvl="1" marL="914400" rtl="0" algn="l">
              <a:lnSpc>
                <a:spcPct val="115000"/>
              </a:lnSpc>
              <a:spcBef>
                <a:spcPts val="0"/>
              </a:spcBef>
              <a:spcAft>
                <a:spcPts val="0"/>
              </a:spcAft>
              <a:buSzPts val="1100"/>
              <a:buChar char="○"/>
            </a:pPr>
            <a:r>
              <a:rPr lang="en"/>
              <a:t>You should have taken care of this on Monday, but in case you haven’t, now is your chance!</a:t>
            </a:r>
            <a:endParaRPr/>
          </a:p>
          <a:p>
            <a:pPr indent="-311150" lvl="0" marL="457200" rtl="0" algn="l">
              <a:lnSpc>
                <a:spcPct val="115000"/>
              </a:lnSpc>
              <a:spcBef>
                <a:spcPts val="0"/>
              </a:spcBef>
              <a:spcAft>
                <a:spcPts val="0"/>
              </a:spcAft>
              <a:buSzPts val="1300"/>
              <a:buChar char="●"/>
            </a:pPr>
            <a:r>
              <a:rPr lang="en"/>
              <a:t>Now, we’re going to create the simplest web page imaginable and host it at username.github.io (you can delete this once we’re done)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8"/>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1 - Create a repository	</a:t>
            </a:r>
            <a:endParaRPr/>
          </a:p>
        </p:txBody>
      </p:sp>
      <p:sp>
        <p:nvSpPr>
          <p:cNvPr id="199" name="Google Shape;199;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Log into Github, go to the repositories tab, and click the ‘new’ button.</a:t>
            </a:r>
            <a:endParaRPr/>
          </a:p>
        </p:txBody>
      </p:sp>
      <p:pic>
        <p:nvPicPr>
          <p:cNvPr id="200" name="Google Shape;200;p18"/>
          <p:cNvPicPr preferRelativeResize="0"/>
          <p:nvPr/>
        </p:nvPicPr>
        <p:blipFill rotWithShape="1">
          <a:blip r:embed="rId3">
            <a:alphaModFix/>
          </a:blip>
          <a:srcRect b="0" l="0" r="0" t="0"/>
          <a:stretch/>
        </p:blipFill>
        <p:spPr>
          <a:xfrm>
            <a:off x="421738" y="2571751"/>
            <a:ext cx="8300524" cy="1767100"/>
          </a:xfrm>
          <a:prstGeom prst="rect">
            <a:avLst/>
          </a:prstGeom>
          <a:noFill/>
          <a:ln>
            <a:noFill/>
          </a:ln>
        </p:spPr>
      </p:pic>
      <p:sp>
        <p:nvSpPr>
          <p:cNvPr id="201" name="Google Shape;201;p18"/>
          <p:cNvSpPr txBox="1"/>
          <p:nvPr/>
        </p:nvSpPr>
        <p:spPr>
          <a:xfrm>
            <a:off x="2101650" y="4565000"/>
            <a:ext cx="4940700" cy="3849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1200"/>
              </a:spcAft>
              <a:buClr>
                <a:srgbClr val="000000"/>
              </a:buClr>
              <a:buSzPts val="1300"/>
              <a:buFont typeface="Arial"/>
              <a:buNone/>
            </a:pPr>
            <a:r>
              <a:rPr b="0" i="0" lang="en" sz="1300" u="none" cap="none" strike="noStrike">
                <a:solidFill>
                  <a:schemeClr val="accent1"/>
                </a:solidFill>
                <a:latin typeface="Lato"/>
                <a:ea typeface="Lato"/>
                <a:cs typeface="Lato"/>
                <a:sym typeface="Lato"/>
              </a:rPr>
              <a:t>Call it whatever you want, I recommend ‘helloworld’</a:t>
            </a:r>
            <a:endParaRPr b="0" i="0" sz="1400" u="none" cap="none" strike="noStrike">
              <a:solidFill>
                <a:srgbClr val="000000"/>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9"/>
          <p:cNvPicPr preferRelativeResize="0"/>
          <p:nvPr/>
        </p:nvPicPr>
        <p:blipFill rotWithShape="1">
          <a:blip r:embed="rId3">
            <a:alphaModFix/>
          </a:blip>
          <a:srcRect b="0" l="0" r="0" t="0"/>
          <a:stretch/>
        </p:blipFill>
        <p:spPr>
          <a:xfrm>
            <a:off x="1852625" y="0"/>
            <a:ext cx="5438745" cy="514349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2 - Clone it down…</a:t>
            </a:r>
            <a:endParaRPr/>
          </a:p>
        </p:txBody>
      </p:sp>
      <p:sp>
        <p:nvSpPr>
          <p:cNvPr id="212" name="Google Shape;212;p20"/>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Please note, for something this simple, you could easily create it entirely using the GitHub web interface… If you feel comfortable with what I’m asking you to do, feel free to do it however you like. </a:t>
            </a:r>
            <a:r>
              <a:rPr b="1" lang="en"/>
              <a:t>However, if you’re confused, please follow along!</a:t>
            </a:r>
            <a:endParaRPr/>
          </a:p>
          <a:p>
            <a:pPr indent="-311150" lvl="0" marL="457200" rtl="0" algn="l">
              <a:lnSpc>
                <a:spcPct val="115000"/>
              </a:lnSpc>
              <a:spcBef>
                <a:spcPts val="0"/>
              </a:spcBef>
              <a:spcAft>
                <a:spcPts val="0"/>
              </a:spcAft>
              <a:buSzPts val="1300"/>
              <a:buChar char="●"/>
            </a:pPr>
            <a:r>
              <a:rPr lang="en"/>
              <a:t>Click the &lt;&gt; Code button and copy the address…</a:t>
            </a:r>
            <a:endParaRPr/>
          </a:p>
          <a:p>
            <a:pPr indent="0" lvl="0" marL="0" rtl="0" algn="l">
              <a:lnSpc>
                <a:spcPct val="115000"/>
              </a:lnSpc>
              <a:spcBef>
                <a:spcPts val="1200"/>
              </a:spcBef>
              <a:spcAft>
                <a:spcPts val="1200"/>
              </a:spcAft>
              <a:buSzPts val="1300"/>
              <a:buNone/>
            </a:pPr>
            <a:r>
              <a:t/>
            </a:r>
            <a:endParaRPr/>
          </a:p>
        </p:txBody>
      </p:sp>
      <p:pic>
        <p:nvPicPr>
          <p:cNvPr id="213" name="Google Shape;213;p20"/>
          <p:cNvPicPr preferRelativeResize="0"/>
          <p:nvPr/>
        </p:nvPicPr>
        <p:blipFill rotWithShape="1">
          <a:blip r:embed="rId3">
            <a:alphaModFix/>
          </a:blip>
          <a:srcRect b="0" l="0" r="0" t="0"/>
          <a:stretch/>
        </p:blipFill>
        <p:spPr>
          <a:xfrm>
            <a:off x="2149650" y="3085625"/>
            <a:ext cx="4848300" cy="2057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1"/>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2 - Clone it down…</a:t>
            </a:r>
            <a:endParaRPr/>
          </a:p>
          <a:p>
            <a:pPr indent="0" lvl="0" marL="0" rtl="0" algn="l">
              <a:lnSpc>
                <a:spcPct val="100000"/>
              </a:lnSpc>
              <a:spcBef>
                <a:spcPts val="0"/>
              </a:spcBef>
              <a:spcAft>
                <a:spcPts val="0"/>
              </a:spcAft>
              <a:buSzPct val="111111"/>
              <a:buNone/>
            </a:pPr>
            <a:r>
              <a:t/>
            </a:r>
            <a:endParaRPr/>
          </a:p>
        </p:txBody>
      </p:sp>
      <p:sp>
        <p:nvSpPr>
          <p:cNvPr id="219" name="Google Shape;219;p21"/>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Go to the “command prompt” on windows (you can search for ‘cmd’ and it will pop up)</a:t>
            </a:r>
            <a:endParaRPr/>
          </a:p>
          <a:p>
            <a:pPr indent="-311150" lvl="0" marL="457200" rtl="0" algn="l">
              <a:lnSpc>
                <a:spcPct val="115000"/>
              </a:lnSpc>
              <a:spcBef>
                <a:spcPts val="0"/>
              </a:spcBef>
              <a:spcAft>
                <a:spcPts val="0"/>
              </a:spcAft>
              <a:buSzPts val="1300"/>
              <a:buChar char="●"/>
            </a:pPr>
            <a:r>
              <a:rPr lang="en"/>
              <a:t>Navigate to where you want to store this file (if you’re not sure, ask!)</a:t>
            </a:r>
            <a:endParaRPr/>
          </a:p>
        </p:txBody>
      </p:sp>
      <p:pic>
        <p:nvPicPr>
          <p:cNvPr id="220" name="Google Shape;220;p21"/>
          <p:cNvPicPr preferRelativeResize="0"/>
          <p:nvPr/>
        </p:nvPicPr>
        <p:blipFill rotWithShape="1">
          <a:blip r:embed="rId3">
            <a:alphaModFix/>
          </a:blip>
          <a:srcRect b="0" l="0" r="0" t="0"/>
          <a:stretch/>
        </p:blipFill>
        <p:spPr>
          <a:xfrm>
            <a:off x="1653425" y="2656275"/>
            <a:ext cx="5738776" cy="24357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2"/>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3 - Create the .html</a:t>
            </a:r>
            <a:endParaRPr/>
          </a:p>
          <a:p>
            <a:pPr indent="0" lvl="0" marL="0" rtl="0" algn="l">
              <a:lnSpc>
                <a:spcPct val="100000"/>
              </a:lnSpc>
              <a:spcBef>
                <a:spcPts val="0"/>
              </a:spcBef>
              <a:spcAft>
                <a:spcPts val="0"/>
              </a:spcAft>
              <a:buSzPct val="111111"/>
              <a:buNone/>
            </a:pPr>
            <a:r>
              <a:t/>
            </a:r>
            <a:endParaRPr/>
          </a:p>
        </p:txBody>
      </p:sp>
      <p:sp>
        <p:nvSpPr>
          <p:cNvPr id="226" name="Google Shape;226;p22"/>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Open up Visual Studio Code and create a new file. Choose the language as .html (this is optional)</a:t>
            </a:r>
            <a:endParaRPr/>
          </a:p>
          <a:p>
            <a:pPr indent="-311150" lvl="0" marL="457200" rtl="0" algn="l">
              <a:lnSpc>
                <a:spcPct val="115000"/>
              </a:lnSpc>
              <a:spcBef>
                <a:spcPts val="0"/>
              </a:spcBef>
              <a:spcAft>
                <a:spcPts val="0"/>
              </a:spcAft>
              <a:buSzPts val="1300"/>
              <a:buChar char="●"/>
            </a:pPr>
            <a:r>
              <a:rPr lang="en"/>
              <a:t>Set up your code like so and save it as index.html in the directory where you cloned the repository</a:t>
            </a:r>
            <a:endParaRPr/>
          </a:p>
        </p:txBody>
      </p:sp>
      <p:pic>
        <p:nvPicPr>
          <p:cNvPr id="227" name="Google Shape;227;p22"/>
          <p:cNvPicPr preferRelativeResize="0"/>
          <p:nvPr/>
        </p:nvPicPr>
        <p:blipFill rotWithShape="1">
          <a:blip r:embed="rId3">
            <a:alphaModFix/>
          </a:blip>
          <a:srcRect b="0" l="0" r="0" t="0"/>
          <a:stretch/>
        </p:blipFill>
        <p:spPr>
          <a:xfrm>
            <a:off x="2728900" y="3122100"/>
            <a:ext cx="3686175" cy="1352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3"/>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4 - Time to add, commit, and push!</a:t>
            </a:r>
            <a:endParaRPr/>
          </a:p>
          <a:p>
            <a:pPr indent="0" lvl="0" marL="0" rtl="0" algn="l">
              <a:lnSpc>
                <a:spcPct val="100000"/>
              </a:lnSpc>
              <a:spcBef>
                <a:spcPts val="0"/>
              </a:spcBef>
              <a:spcAft>
                <a:spcPts val="0"/>
              </a:spcAft>
              <a:buSzPct val="111111"/>
              <a:buNone/>
            </a:pPr>
            <a:r>
              <a:t/>
            </a:r>
            <a:endParaRPr/>
          </a:p>
        </p:txBody>
      </p:sp>
      <p:sp>
        <p:nvSpPr>
          <p:cNvPr id="233" name="Google Shape;233;p23"/>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First, we’ll add our files to the repository. Then, we’ll commit them. Finally, we’ll push them up.</a:t>
            </a:r>
            <a:endParaRPr/>
          </a:p>
          <a:p>
            <a:pPr indent="0" lvl="0" marL="0" rtl="0" algn="l">
              <a:lnSpc>
                <a:spcPct val="115000"/>
              </a:lnSpc>
              <a:spcBef>
                <a:spcPts val="1200"/>
              </a:spcBef>
              <a:spcAft>
                <a:spcPts val="1200"/>
              </a:spcAft>
              <a:buSzPts val="1300"/>
              <a:buNone/>
            </a:pPr>
            <a:r>
              <a:t/>
            </a:r>
            <a:endParaRPr/>
          </a:p>
        </p:txBody>
      </p:sp>
      <p:pic>
        <p:nvPicPr>
          <p:cNvPr id="234" name="Google Shape;234;p23"/>
          <p:cNvPicPr preferRelativeResize="0"/>
          <p:nvPr/>
        </p:nvPicPr>
        <p:blipFill rotWithShape="1">
          <a:blip r:embed="rId3">
            <a:alphaModFix/>
          </a:blip>
          <a:srcRect b="0" l="0" r="0" t="0"/>
          <a:stretch/>
        </p:blipFill>
        <p:spPr>
          <a:xfrm>
            <a:off x="1853400" y="2390350"/>
            <a:ext cx="5437199" cy="27016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4"/>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 5 - One last step… (which you could also do at the beginning…)</a:t>
            </a:r>
            <a:endParaRPr/>
          </a:p>
          <a:p>
            <a:pPr indent="0" lvl="0" marL="0" rtl="0" algn="l">
              <a:lnSpc>
                <a:spcPct val="100000"/>
              </a:lnSpc>
              <a:spcBef>
                <a:spcPts val="0"/>
              </a:spcBef>
              <a:spcAft>
                <a:spcPts val="0"/>
              </a:spcAft>
              <a:buSzPct val="111111"/>
              <a:buNone/>
            </a:pPr>
            <a:r>
              <a:t/>
            </a:r>
            <a:endParaRPr/>
          </a:p>
        </p:txBody>
      </p:sp>
      <p:sp>
        <p:nvSpPr>
          <p:cNvPr id="240" name="Google Shape;240;p2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Go back to Github, go to your repository. Click on Settings, then Pages. </a:t>
            </a:r>
            <a:endParaRPr/>
          </a:p>
          <a:p>
            <a:pPr indent="-311150" lvl="0" marL="457200" rtl="0" algn="l">
              <a:lnSpc>
                <a:spcPct val="115000"/>
              </a:lnSpc>
              <a:spcBef>
                <a:spcPts val="0"/>
              </a:spcBef>
              <a:spcAft>
                <a:spcPts val="0"/>
              </a:spcAft>
              <a:buSzPts val="1300"/>
              <a:buChar char="●"/>
            </a:pPr>
            <a:r>
              <a:rPr lang="en"/>
              <a:t>Set the branch to main and click save.</a:t>
            </a:r>
            <a:endParaRPr/>
          </a:p>
          <a:p>
            <a:pPr indent="0" lvl="0" marL="0" rtl="0" algn="l">
              <a:lnSpc>
                <a:spcPct val="115000"/>
              </a:lnSpc>
              <a:spcBef>
                <a:spcPts val="1200"/>
              </a:spcBef>
              <a:spcAft>
                <a:spcPts val="1200"/>
              </a:spcAft>
              <a:buSzPts val="1300"/>
              <a:buNone/>
            </a:pPr>
            <a:r>
              <a:t/>
            </a:r>
            <a:endParaRPr/>
          </a:p>
        </p:txBody>
      </p:sp>
      <p:pic>
        <p:nvPicPr>
          <p:cNvPr id="241" name="Google Shape;241;p24"/>
          <p:cNvPicPr preferRelativeResize="0"/>
          <p:nvPr/>
        </p:nvPicPr>
        <p:blipFill rotWithShape="1">
          <a:blip r:embed="rId3">
            <a:alphaModFix/>
          </a:blip>
          <a:srcRect b="0" l="0" r="0" t="0"/>
          <a:stretch/>
        </p:blipFill>
        <p:spPr>
          <a:xfrm>
            <a:off x="1727375" y="2659725"/>
            <a:ext cx="5692851" cy="24837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5"/>
          <p:cNvSpPr txBox="1"/>
          <p:nvPr>
            <p:ph type="title"/>
          </p:nvPr>
        </p:nvSpPr>
        <p:spPr>
          <a:xfrm>
            <a:off x="729450" y="1318650"/>
            <a:ext cx="7688700" cy="5352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Go check it out (it may take a few moments)</a:t>
            </a:r>
            <a:endParaRPr/>
          </a:p>
          <a:p>
            <a:pPr indent="0" lvl="0" marL="0" rtl="0" algn="l">
              <a:lnSpc>
                <a:spcPct val="100000"/>
              </a:lnSpc>
              <a:spcBef>
                <a:spcPts val="0"/>
              </a:spcBef>
              <a:spcAft>
                <a:spcPts val="0"/>
              </a:spcAft>
              <a:buSzPct val="111111"/>
              <a:buNone/>
            </a:pPr>
            <a:r>
              <a:t/>
            </a:r>
            <a:endParaRPr/>
          </a:p>
        </p:txBody>
      </p:sp>
      <p:sp>
        <p:nvSpPr>
          <p:cNvPr id="247" name="Google Shape;247;p25"/>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lnSpcReduction="10000"/>
          </a:bodyPr>
          <a:lstStyle/>
          <a:p>
            <a:pPr indent="-311150" lvl="0" marL="457200" rtl="0" algn="l">
              <a:lnSpc>
                <a:spcPct val="115000"/>
              </a:lnSpc>
              <a:spcBef>
                <a:spcPts val="0"/>
              </a:spcBef>
              <a:spcAft>
                <a:spcPts val="0"/>
              </a:spcAft>
              <a:buSzPts val="1300"/>
              <a:buChar char="●"/>
            </a:pPr>
            <a:r>
              <a:rPr lang="en"/>
              <a:t>Go to [username].github.io/[repository_name]/</a:t>
            </a:r>
            <a:endParaRPr/>
          </a:p>
          <a:p>
            <a:pPr indent="-311150" lvl="0" marL="457200" rtl="0" algn="l">
              <a:lnSpc>
                <a:spcPct val="115000"/>
              </a:lnSpc>
              <a:spcBef>
                <a:spcPts val="0"/>
              </a:spcBef>
              <a:spcAft>
                <a:spcPts val="0"/>
              </a:spcAft>
              <a:buSzPts val="1300"/>
              <a:buChar char="●"/>
            </a:pPr>
            <a:r>
              <a:rPr lang="en"/>
              <a:t>Boom. </a:t>
            </a:r>
            <a:endParaRPr/>
          </a:p>
          <a:p>
            <a:pPr indent="0" lvl="0" marL="457200" rtl="0" algn="l">
              <a:lnSpc>
                <a:spcPct val="115000"/>
              </a:lnSpc>
              <a:spcBef>
                <a:spcPts val="1200"/>
              </a:spcBef>
              <a:spcAft>
                <a:spcPts val="0"/>
              </a:spcAft>
              <a:buSzPts val="1300"/>
              <a:buNone/>
            </a:pPr>
            <a:r>
              <a:t/>
            </a:r>
            <a:endParaRPr/>
          </a:p>
          <a:p>
            <a:pPr indent="-311150" lvl="0" marL="457200" rtl="0" algn="l">
              <a:lnSpc>
                <a:spcPct val="115000"/>
              </a:lnSpc>
              <a:spcBef>
                <a:spcPts val="1200"/>
              </a:spcBef>
              <a:spcAft>
                <a:spcPts val="0"/>
              </a:spcAft>
              <a:buSzPts val="1300"/>
              <a:buChar char="●"/>
            </a:pPr>
            <a:r>
              <a:rPr lang="en"/>
              <a:t>Yes, this was simple. However you gained experience:</a:t>
            </a:r>
            <a:endParaRPr/>
          </a:p>
          <a:p>
            <a:pPr indent="-298450" lvl="1" marL="1371600" rtl="0" algn="l">
              <a:lnSpc>
                <a:spcPct val="115000"/>
              </a:lnSpc>
              <a:spcBef>
                <a:spcPts val="0"/>
              </a:spcBef>
              <a:spcAft>
                <a:spcPts val="0"/>
              </a:spcAft>
              <a:buSzPts val="1100"/>
              <a:buChar char="○"/>
            </a:pPr>
            <a:r>
              <a:rPr lang="en"/>
              <a:t>Creating repositories and using Git to commit and push them.</a:t>
            </a:r>
            <a:endParaRPr/>
          </a:p>
          <a:p>
            <a:pPr indent="-298450" lvl="1" marL="1371600" rtl="0" algn="l">
              <a:lnSpc>
                <a:spcPct val="115000"/>
              </a:lnSpc>
              <a:spcBef>
                <a:spcPts val="0"/>
              </a:spcBef>
              <a:spcAft>
                <a:spcPts val="0"/>
              </a:spcAft>
              <a:buSzPts val="1100"/>
              <a:buChar char="○"/>
            </a:pPr>
            <a:r>
              <a:rPr lang="en"/>
              <a:t>Working with html</a:t>
            </a:r>
            <a:endParaRPr/>
          </a:p>
          <a:p>
            <a:pPr indent="-298450" lvl="1" marL="1371600" rtl="0" algn="l">
              <a:lnSpc>
                <a:spcPct val="115000"/>
              </a:lnSpc>
              <a:spcBef>
                <a:spcPts val="0"/>
              </a:spcBef>
              <a:spcAft>
                <a:spcPts val="0"/>
              </a:spcAft>
              <a:buSzPts val="1100"/>
              <a:buChar char="○"/>
            </a:pPr>
            <a:r>
              <a:rPr lang="en"/>
              <a:t>Using Visual Studio Code.</a:t>
            </a:r>
            <a:endParaRPr/>
          </a:p>
          <a:p>
            <a:pPr indent="0" lvl="0" marL="0" rtl="0" algn="l">
              <a:lnSpc>
                <a:spcPct val="115000"/>
              </a:lnSpc>
              <a:spcBef>
                <a:spcPts val="1200"/>
              </a:spcBef>
              <a:spcAft>
                <a:spcPts val="1200"/>
              </a:spcAft>
              <a:buSzPts val="13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