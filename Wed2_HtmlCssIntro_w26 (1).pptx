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Raleway"/>
      <p:regular r:id="rId37"/>
      <p:bold r:id="rId38"/>
      <p:italic r:id="rId39"/>
      <p:boldItalic r:id="rId40"/>
    </p:embeddedFont>
    <p:embeddedFont>
      <p:font typeface="Lato"/>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5" roundtripDataSignature="AMtx7mjNHDkKrD5MhMTnaGJE8SLm234F8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boldItalic.fntdata"/><Relationship Id="rId20" Type="http://schemas.openxmlformats.org/officeDocument/2006/relationships/slide" Target="slides/slide15.xml"/><Relationship Id="rId42" Type="http://schemas.openxmlformats.org/officeDocument/2006/relationships/font" Target="fonts/Lato-bold.fntdata"/><Relationship Id="rId41" Type="http://schemas.openxmlformats.org/officeDocument/2006/relationships/font" Target="fonts/Lato-regular.fntdata"/><Relationship Id="rId22" Type="http://schemas.openxmlformats.org/officeDocument/2006/relationships/slide" Target="slides/slide17.xml"/><Relationship Id="rId44" Type="http://schemas.openxmlformats.org/officeDocument/2006/relationships/font" Target="fonts/Lato-boldItalic.fntdata"/><Relationship Id="rId21" Type="http://schemas.openxmlformats.org/officeDocument/2006/relationships/slide" Target="slides/slide16.xml"/><Relationship Id="rId43" Type="http://schemas.openxmlformats.org/officeDocument/2006/relationships/font" Target="fonts/Lato-italic.fntdata"/><Relationship Id="rId24" Type="http://schemas.openxmlformats.org/officeDocument/2006/relationships/slide" Target="slides/slide19.xml"/><Relationship Id="rId23" Type="http://schemas.openxmlformats.org/officeDocument/2006/relationships/slide" Target="slides/slide18.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aleway-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aleway-italic.fntdata"/><Relationship Id="rId16" Type="http://schemas.openxmlformats.org/officeDocument/2006/relationships/slide" Target="slides/slide11.xml"/><Relationship Id="rId38" Type="http://schemas.openxmlformats.org/officeDocument/2006/relationships/font" Target="fonts/Raleway-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andrewxhill/status/576442676419125248"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b5ad3b23b1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g3b5ad3b23b1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These are separate concepts. Walk through the left.</a:t>
            </a:r>
            <a:br>
              <a:rPr lang="en"/>
            </a:br>
            <a:r>
              <a:rPr lang="en"/>
              <a:t>On the right:</a:t>
            </a:r>
            <a:br>
              <a:rPr lang="en"/>
            </a:br>
            <a:r>
              <a:rPr lang="en"/>
              <a:t>1. Presentation tier - contents in browsers - html, js, and css - might use angular or react or whatever.</a:t>
            </a:r>
            <a:endParaRPr/>
          </a:p>
          <a:p>
            <a:pPr indent="0" lvl="0" marL="0" rtl="0" algn="l">
              <a:lnSpc>
                <a:spcPct val="100000"/>
              </a:lnSpc>
              <a:spcBef>
                <a:spcPts val="0"/>
              </a:spcBef>
              <a:spcAft>
                <a:spcPts val="0"/>
              </a:spcAft>
              <a:buSzPts val="1100"/>
              <a:buNone/>
            </a:pPr>
            <a:r>
              <a:rPr lang="en"/>
              <a:t>2. Application layer - processes the logic for the application - back end server computation</a:t>
            </a:r>
            <a:endParaRPr/>
          </a:p>
          <a:p>
            <a:pPr indent="0" lvl="0" marL="0" rtl="0" algn="l">
              <a:lnSpc>
                <a:spcPct val="100000"/>
              </a:lnSpc>
              <a:spcBef>
                <a:spcPts val="0"/>
              </a:spcBef>
              <a:spcAft>
                <a:spcPts val="0"/>
              </a:spcAft>
              <a:buSzPts val="1100"/>
              <a:buNone/>
            </a:pPr>
            <a:r>
              <a:rPr lang="en"/>
              <a:t>3. Data layer - back-end - mongo, sql, etc.</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Example:</a:t>
            </a:r>
            <a:endParaRPr/>
          </a:p>
          <a:p>
            <a:pPr indent="0" lvl="0" marL="0" rtl="0" algn="l">
              <a:lnSpc>
                <a:spcPct val="100000"/>
              </a:lnSpc>
              <a:spcBef>
                <a:spcPts val="0"/>
              </a:spcBef>
              <a:spcAft>
                <a:spcPts val="0"/>
              </a:spcAft>
              <a:buSzPts val="1100"/>
              <a:buNone/>
            </a:pPr>
            <a:r>
              <a:rPr lang="en"/>
              <a:t>Movie times in our area on the web.</a:t>
            </a:r>
            <a:endParaRPr/>
          </a:p>
          <a:p>
            <a:pPr indent="0" lvl="0" marL="0" rtl="0" algn="l">
              <a:lnSpc>
                <a:spcPct val="100000"/>
              </a:lnSpc>
              <a:spcBef>
                <a:spcPts val="0"/>
              </a:spcBef>
              <a:spcAft>
                <a:spcPts val="0"/>
              </a:spcAft>
              <a:buSzPts val="1100"/>
              <a:buNone/>
            </a:pPr>
            <a:r>
              <a:rPr lang="en"/>
              <a:t>Presentation has fields that you enter the movie name and zip code.</a:t>
            </a:r>
            <a:endParaRPr/>
          </a:p>
          <a:p>
            <a:pPr indent="0" lvl="0" marL="0" rtl="0" algn="l">
              <a:lnSpc>
                <a:spcPct val="100000"/>
              </a:lnSpc>
              <a:spcBef>
                <a:spcPts val="0"/>
              </a:spcBef>
              <a:spcAft>
                <a:spcPts val="0"/>
              </a:spcAft>
              <a:buSzPts val="1100"/>
              <a:buNone/>
            </a:pPr>
            <a:r>
              <a:rPr lang="en"/>
              <a:t>Passed to the application layer that formats this as a query and hits the database</a:t>
            </a:r>
            <a:endParaRPr/>
          </a:p>
          <a:p>
            <a:pPr indent="0" lvl="0" marL="0" rtl="0" algn="l">
              <a:lnSpc>
                <a:spcPct val="100000"/>
              </a:lnSpc>
              <a:spcBef>
                <a:spcPts val="0"/>
              </a:spcBef>
              <a:spcAft>
                <a:spcPts val="0"/>
              </a:spcAft>
              <a:buSzPts val="1100"/>
              <a:buNone/>
            </a:pPr>
            <a:r>
              <a:rPr lang="en"/>
              <a:t>Database passes back the result, application formats it into a web page (or passes it along as is for the web page to format)</a:t>
            </a:r>
            <a:endParaRPr/>
          </a:p>
          <a:p>
            <a:pPr indent="0" lvl="0" marL="0" rtl="0" algn="l">
              <a:lnSpc>
                <a:spcPct val="100000"/>
              </a:lnSpc>
              <a:spcBef>
                <a:spcPts val="0"/>
              </a:spcBef>
              <a:spcAft>
                <a:spcPts val="0"/>
              </a:spcAft>
              <a:buSzPts val="1100"/>
              <a:buNone/>
            </a:pPr>
            <a:r>
              <a:rPr lang="en"/>
              <a:t>The page loads or updates with the formatted data.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Separation here is important - can update without taking whole stack down, can isolate issues, can scale up and out. Adds reliability.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Three tier architecture was the standard for client-server architecture for decades, but more recently many are moving to more cloud-native solutions like containers and microservices; however, it’s still useful to think through.</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is the key for us. We can talk more about the others, and you should read/learn about them as you encounter them. But, for web mapping…</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Make note: An API stands for “Application Programming Interface” and it’s a way for you to ask for and receive resources and information from programs outside of your own. </a:t>
            </a:r>
            <a:br>
              <a:rPr lang="en"/>
            </a:br>
            <a:br>
              <a:rPr lang="en"/>
            </a:br>
            <a:r>
              <a:rPr lang="en"/>
              <a:t>We’ll go over what these are in detail, but for right now, it’s important to know that what Google did was allow anyone to embed maps into their websites by making a call to their servers.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Networks build on networks. </a:t>
            </a:r>
            <a:endParaRPr/>
          </a:p>
          <a:p>
            <a:pPr indent="0" lvl="0" marL="0" rtl="0" algn="l">
              <a:lnSpc>
                <a:spcPct val="100000"/>
              </a:lnSpc>
              <a:spcBef>
                <a:spcPts val="0"/>
              </a:spcBef>
              <a:spcAft>
                <a:spcPts val="0"/>
              </a:spcAft>
              <a:buSzPts val="1100"/>
              <a:buNone/>
            </a:pPr>
            <a:r>
              <a:rPr lang="en"/>
              <a:t>Transit was the first satellite navigation network and was used by the navy heavily to direct its polaris ballistic missile subs during the cold war.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If have time, tell story about GPS and Bill Clinton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Note: everyone has experienced that jumble of labeling rules working at one scale and not at another. One of the major skills we’ll be working on throughout this course is designing robust maps that </a:t>
            </a:r>
            <a:r>
              <a:rPr i="1" lang="en"/>
              <a:t>don’t</a:t>
            </a:r>
            <a:r>
              <a:rPr lang="en"/>
              <a:t> end up looking like on the right. There are various approaches to this (including just using raster tiles).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Image courtesy of Andrew Hill on twitter - </a:t>
            </a:r>
            <a:r>
              <a:rPr lang="en" u="sng">
                <a:solidFill>
                  <a:schemeClr val="hlink"/>
                </a:solidFill>
                <a:hlinkClick r:id="rId2"/>
              </a:rPr>
              <a:t>Andrew Hill on X: "I don't get to see burger icons everyday :) http://t.co/6AgMnpeJJR http://t.co/B7122iHX3r" / X (twitter.com)</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HTML defines the structure of the content. CSS defines the look of it. Javascript (or another language) allow for dynamic actions.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Reminder: All of these are being covered in fairly high level terms and with a lot of generalities. This course is not a CS one.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OH GEEZ. THE DOCUMENT OBJECT MODEL.</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Joke about why I use dietcoke.com</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There are a ton more. It’s worth looking up, but these will get you started.</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There are a ton more. It’s worth looking up, but these will get you started.</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IS TAKEN DIRECTLY FROM CODEACADEMY BECAUSE IT’S WONDERFUL!</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“Rel” tells the browser what the relationship to the file it. The link tells us it’s a link.</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css/stylish.css is where it’s located (in a sub directory of the main one). It could be anywhere on the web! Go and look at other websites and see where they store them.</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“Rel” tells the browser what the relationship to the file it. The link tells us it’s a link.</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css/stylish.css is where it’s located (in a sub directory of the main one). It could be anywhere on the web! Go and look at other websites and see where they store them.</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“Rel” tells the browser what the relationship to the file it. The link tells us it’s a link.</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css/stylish.css is where it’s located (in a sub directory of the main one). It could be anywhere on the web! Go and look at other websites and see where they store them.</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33"/>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33"/>
          <p:cNvGrpSpPr/>
          <p:nvPr/>
        </p:nvGrpSpPr>
        <p:grpSpPr>
          <a:xfrm>
            <a:off x="830392" y="1191256"/>
            <a:ext cx="745763" cy="45826"/>
            <a:chOff x="4580561" y="2589004"/>
            <a:chExt cx="1064464" cy="25200"/>
          </a:xfrm>
        </p:grpSpPr>
        <p:sp>
          <p:nvSpPr>
            <p:cNvPr id="12" name="Google Shape;12;p3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3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33"/>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33"/>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3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3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34"/>
          <p:cNvGrpSpPr/>
          <p:nvPr/>
        </p:nvGrpSpPr>
        <p:grpSpPr>
          <a:xfrm>
            <a:off x="830392" y="1191256"/>
            <a:ext cx="745763" cy="45826"/>
            <a:chOff x="4580561" y="2589004"/>
            <a:chExt cx="1064464" cy="25200"/>
          </a:xfrm>
        </p:grpSpPr>
        <p:sp>
          <p:nvSpPr>
            <p:cNvPr id="20" name="Google Shape;20;p3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3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34"/>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3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5" name="Shape 25"/>
        <p:cNvGrpSpPr/>
        <p:nvPr/>
      </p:nvGrpSpPr>
      <p:grpSpPr>
        <a:xfrm>
          <a:off x="0" y="0"/>
          <a:ext cx="0" cy="0"/>
          <a:chOff x="0" y="0"/>
          <a:chExt cx="0" cy="0"/>
        </a:xfrm>
      </p:grpSpPr>
      <p:grpSp>
        <p:nvGrpSpPr>
          <p:cNvPr id="26" name="Google Shape;26;p35"/>
          <p:cNvGrpSpPr/>
          <p:nvPr/>
        </p:nvGrpSpPr>
        <p:grpSpPr>
          <a:xfrm>
            <a:off x="830392" y="1191256"/>
            <a:ext cx="745763" cy="45826"/>
            <a:chOff x="4580561" y="2589004"/>
            <a:chExt cx="1064464" cy="25200"/>
          </a:xfrm>
        </p:grpSpPr>
        <p:sp>
          <p:nvSpPr>
            <p:cNvPr id="27" name="Google Shape;27;p3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3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 name="Google Shape;29;p35"/>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0" name="Google Shape;30;p3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3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 name="Google Shape;33;p36"/>
          <p:cNvGrpSpPr/>
          <p:nvPr/>
        </p:nvGrpSpPr>
        <p:grpSpPr>
          <a:xfrm>
            <a:off x="830392" y="1191256"/>
            <a:ext cx="745763" cy="45826"/>
            <a:chOff x="4580561" y="2589004"/>
            <a:chExt cx="1064464" cy="25200"/>
          </a:xfrm>
        </p:grpSpPr>
        <p:sp>
          <p:nvSpPr>
            <p:cNvPr id="34" name="Google Shape;34;p3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3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 name="Google Shape;36;p36"/>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7" name="Google Shape;37;p36"/>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8" name="Google Shape;38;p36"/>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3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 name="Shape 40"/>
        <p:cNvGrpSpPr/>
        <p:nvPr/>
      </p:nvGrpSpPr>
      <p:grpSpPr>
        <a:xfrm>
          <a:off x="0" y="0"/>
          <a:ext cx="0" cy="0"/>
          <a:chOff x="0" y="0"/>
          <a:chExt cx="0" cy="0"/>
        </a:xfrm>
      </p:grpSpPr>
      <p:sp>
        <p:nvSpPr>
          <p:cNvPr id="41" name="Google Shape;41;p37"/>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42" name="Google Shape;42;p3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3" name="Shape 43"/>
        <p:cNvGrpSpPr/>
        <p:nvPr/>
      </p:nvGrpSpPr>
      <p:grpSpPr>
        <a:xfrm>
          <a:off x="0" y="0"/>
          <a:ext cx="0" cy="0"/>
          <a:chOff x="0" y="0"/>
          <a:chExt cx="0" cy="0"/>
        </a:xfrm>
      </p:grpSpPr>
      <p:sp>
        <p:nvSpPr>
          <p:cNvPr id="44" name="Google Shape;44;p3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5" name="Google Shape;45;p38"/>
          <p:cNvGrpSpPr/>
          <p:nvPr/>
        </p:nvGrpSpPr>
        <p:grpSpPr>
          <a:xfrm>
            <a:off x="830392" y="1191256"/>
            <a:ext cx="745763" cy="45826"/>
            <a:chOff x="4580561" y="2589004"/>
            <a:chExt cx="1064464" cy="25200"/>
          </a:xfrm>
        </p:grpSpPr>
        <p:sp>
          <p:nvSpPr>
            <p:cNvPr id="46" name="Google Shape;46;p3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3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8" name="Google Shape;48;p38"/>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9" name="Google Shape;49;p38"/>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0" name="Google Shape;50;p3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3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3" name="Shape 53"/>
        <p:cNvGrpSpPr/>
        <p:nvPr/>
      </p:nvGrpSpPr>
      <p:grpSpPr>
        <a:xfrm>
          <a:off x="0" y="0"/>
          <a:ext cx="0" cy="0"/>
          <a:chOff x="0" y="0"/>
          <a:chExt cx="0" cy="0"/>
        </a:xfrm>
      </p:grpSpPr>
      <p:grpSp>
        <p:nvGrpSpPr>
          <p:cNvPr id="54" name="Google Shape;54;p40"/>
          <p:cNvGrpSpPr/>
          <p:nvPr/>
        </p:nvGrpSpPr>
        <p:grpSpPr>
          <a:xfrm>
            <a:off x="830392" y="4169130"/>
            <a:ext cx="745763" cy="45826"/>
            <a:chOff x="4580561" y="2589004"/>
            <a:chExt cx="1064464" cy="25200"/>
          </a:xfrm>
        </p:grpSpPr>
        <p:sp>
          <p:nvSpPr>
            <p:cNvPr id="55" name="Google Shape;55;p4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4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7" name="Google Shape;57;p40"/>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58" name="Google Shape;58;p4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4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 name="Google Shape;61;p41"/>
          <p:cNvGrpSpPr/>
          <p:nvPr/>
        </p:nvGrpSpPr>
        <p:grpSpPr>
          <a:xfrm>
            <a:off x="830392" y="1191256"/>
            <a:ext cx="745763" cy="45826"/>
            <a:chOff x="4580561" y="2589004"/>
            <a:chExt cx="1064464" cy="25200"/>
          </a:xfrm>
        </p:grpSpPr>
        <p:sp>
          <p:nvSpPr>
            <p:cNvPr id="62" name="Google Shape;62;p4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4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4" name="Google Shape;64;p41"/>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5" name="Google Shape;65;p4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6" name="Shape 66"/>
        <p:cNvGrpSpPr/>
        <p:nvPr/>
      </p:nvGrpSpPr>
      <p:grpSpPr>
        <a:xfrm>
          <a:off x="0" y="0"/>
          <a:ext cx="0" cy="0"/>
          <a:chOff x="0" y="0"/>
          <a:chExt cx="0" cy="0"/>
        </a:xfrm>
      </p:grpSpPr>
      <p:sp>
        <p:nvSpPr>
          <p:cNvPr id="67" name="Google Shape;67;p42"/>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8" name="Google Shape;68;p42"/>
          <p:cNvGrpSpPr/>
          <p:nvPr/>
        </p:nvGrpSpPr>
        <p:grpSpPr>
          <a:xfrm>
            <a:off x="830392" y="1191256"/>
            <a:ext cx="745763" cy="45826"/>
            <a:chOff x="4580561" y="2589004"/>
            <a:chExt cx="1064464" cy="25200"/>
          </a:xfrm>
        </p:grpSpPr>
        <p:sp>
          <p:nvSpPr>
            <p:cNvPr id="69" name="Google Shape;69;p4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4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1" name="Google Shape;71;p42"/>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72" name="Google Shape;72;p42"/>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73" name="Google Shape;73;p42"/>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4" name="Google Shape;74;p4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5" name="Shape 75"/>
        <p:cNvGrpSpPr/>
        <p:nvPr/>
      </p:nvGrpSpPr>
      <p:grpSpPr>
        <a:xfrm>
          <a:off x="0" y="0"/>
          <a:ext cx="0" cy="0"/>
          <a:chOff x="0" y="0"/>
          <a:chExt cx="0" cy="0"/>
        </a:xfrm>
      </p:grpSpPr>
      <p:grpSp>
        <p:nvGrpSpPr>
          <p:cNvPr id="76" name="Google Shape;76;p43"/>
          <p:cNvGrpSpPr/>
          <p:nvPr/>
        </p:nvGrpSpPr>
        <p:grpSpPr>
          <a:xfrm>
            <a:off x="830392" y="4169130"/>
            <a:ext cx="745763" cy="45826"/>
            <a:chOff x="4580561" y="2589004"/>
            <a:chExt cx="1064464" cy="25200"/>
          </a:xfrm>
        </p:grpSpPr>
        <p:sp>
          <p:nvSpPr>
            <p:cNvPr id="77" name="Google Shape;77;p4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4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9" name="Google Shape;79;p43"/>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0" name="Google Shape;80;p43"/>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81" name="Google Shape;81;p4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3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hyperlink" Target="http://www.oregonstate.edu" TargetMode="External"/><Relationship Id="rId4" Type="http://schemas.openxmlformats.org/officeDocument/2006/relationships/hyperlink" Target="http://www.oregonstate.edu"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hyperlink" Target="http://www.oregonstate.edu"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hyperlink" Target="https://developer.mozilla.org/en-US/docs/Web/CSS/Reference" TargetMode="External"/><Relationship Id="rId4" Type="http://schemas.openxmlformats.org/officeDocument/2006/relationships/hyperlink" Target="https://www.w3schools.com/cssref/index.php" TargetMode="External"/><Relationship Id="rId5" Type="http://schemas.openxmlformats.org/officeDocument/2006/relationships/hyperlink" Target="https://github.com/jethatch/geog371_fork/tree/master/lectures/lec03"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n"/>
              <a:t>Introduction to HTML and CSS</a:t>
            </a:r>
            <a:endParaRPr/>
          </a:p>
        </p:txBody>
      </p:sp>
      <p:sp>
        <p:nvSpPr>
          <p:cNvPr id="87" name="Google Shape;87;p1"/>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n"/>
              <a:t>Moving a bit beyond “Hello World”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Today</a:t>
            </a:r>
            <a:endParaRPr/>
          </a:p>
        </p:txBody>
      </p:sp>
      <p:sp>
        <p:nvSpPr>
          <p:cNvPr id="93" name="Google Shape;93;p2"/>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Review</a:t>
            </a:r>
            <a:endParaRPr/>
          </a:p>
          <a:p>
            <a:pPr indent="-311150" lvl="0" marL="457200" rtl="0" algn="l">
              <a:lnSpc>
                <a:spcPct val="115000"/>
              </a:lnSpc>
              <a:spcBef>
                <a:spcPts val="0"/>
              </a:spcBef>
              <a:spcAft>
                <a:spcPts val="0"/>
              </a:spcAft>
              <a:buSzPts val="1300"/>
              <a:buChar char="●"/>
            </a:pPr>
            <a:r>
              <a:rPr lang="en"/>
              <a:t>An overview of the basics of HTML and CSS</a:t>
            </a:r>
            <a:endParaRPr/>
          </a:p>
          <a:p>
            <a:pPr indent="-298450" lvl="1" marL="914400" rtl="0" algn="l">
              <a:lnSpc>
                <a:spcPct val="115000"/>
              </a:lnSpc>
              <a:spcBef>
                <a:spcPts val="0"/>
              </a:spcBef>
              <a:spcAft>
                <a:spcPts val="0"/>
              </a:spcAft>
              <a:buSzPts val="1100"/>
              <a:buChar char="○"/>
            </a:pPr>
            <a:r>
              <a:rPr lang="en"/>
              <a:t>How the web works… an introduction.</a:t>
            </a:r>
            <a:endParaRPr/>
          </a:p>
          <a:p>
            <a:pPr indent="-311150" lvl="0" marL="457200" rtl="0" algn="l">
              <a:lnSpc>
                <a:spcPct val="115000"/>
              </a:lnSpc>
              <a:spcBef>
                <a:spcPts val="0"/>
              </a:spcBef>
              <a:spcAft>
                <a:spcPts val="0"/>
              </a:spcAft>
              <a:buSzPts val="1300"/>
              <a:buChar char="●"/>
            </a:pPr>
            <a:r>
              <a:rPr lang="en"/>
              <a:t>Activity: Let’s expand our website</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1200"/>
              </a:spcAft>
              <a:buSzPts val="1300"/>
              <a:buNone/>
            </a:pPr>
            <a:r>
              <a:rPr lang="en"/>
              <a:t>By the end of today, you’ll know a standard means of organizing a website on a server, gain experience working with our IDE, ‘deploy’ a local testing server, create and reference CSS files.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4"/>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
              <a:t>Announcement: We’ll introduce some javascript basics on Friday, rather than additional CSS time.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g3b5ad3b23b1_2_0"/>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rPr lang="en"/>
              <a:t>(Hopefully) Helpful Review</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Data Transmission Protocols</a:t>
            </a:r>
            <a:endParaRPr/>
          </a:p>
          <a:p>
            <a:pPr indent="-298450" lvl="1" marL="914400" rtl="0" algn="l">
              <a:lnSpc>
                <a:spcPct val="115000"/>
              </a:lnSpc>
              <a:spcBef>
                <a:spcPts val="0"/>
              </a:spcBef>
              <a:spcAft>
                <a:spcPts val="0"/>
              </a:spcAft>
              <a:buSzPts val="1100"/>
              <a:buChar char="○"/>
            </a:pPr>
            <a:r>
              <a:rPr lang="en"/>
              <a:t>TCP/IP, HTTP, HTTPS, FTP, etc.</a:t>
            </a:r>
            <a:br>
              <a:rPr lang="en"/>
            </a:br>
            <a:endParaRPr/>
          </a:p>
          <a:p>
            <a:pPr indent="-311150" lvl="0" marL="457200" rtl="0" algn="l">
              <a:lnSpc>
                <a:spcPct val="115000"/>
              </a:lnSpc>
              <a:spcBef>
                <a:spcPts val="0"/>
              </a:spcBef>
              <a:spcAft>
                <a:spcPts val="0"/>
              </a:spcAft>
              <a:buSzPts val="1300"/>
              <a:buChar char="●"/>
            </a:pPr>
            <a:r>
              <a:rPr lang="en"/>
              <a:t>Representation Formats</a:t>
            </a:r>
            <a:endParaRPr/>
          </a:p>
          <a:p>
            <a:pPr indent="-298450" lvl="1" marL="914400" rtl="0" algn="l">
              <a:lnSpc>
                <a:spcPct val="115000"/>
              </a:lnSpc>
              <a:spcBef>
                <a:spcPts val="0"/>
              </a:spcBef>
              <a:spcAft>
                <a:spcPts val="0"/>
              </a:spcAft>
              <a:buSzPts val="1100"/>
              <a:buChar char="○"/>
            </a:pPr>
            <a:r>
              <a:rPr lang="en"/>
              <a:t>HTML, CSS, XML, etc.</a:t>
            </a:r>
            <a:br>
              <a:rPr lang="en"/>
            </a:br>
            <a:endParaRPr/>
          </a:p>
          <a:p>
            <a:pPr indent="-311150" lvl="0" marL="457200" rtl="0" algn="l">
              <a:lnSpc>
                <a:spcPct val="115000"/>
              </a:lnSpc>
              <a:spcBef>
                <a:spcPts val="0"/>
              </a:spcBef>
              <a:spcAft>
                <a:spcPts val="0"/>
              </a:spcAft>
              <a:buSzPts val="1300"/>
              <a:buChar char="●"/>
            </a:pPr>
            <a:r>
              <a:rPr lang="en"/>
              <a:t>Addressing Standards</a:t>
            </a:r>
            <a:endParaRPr/>
          </a:p>
          <a:p>
            <a:pPr indent="-298450" lvl="1" marL="914400" rtl="0" algn="l">
              <a:lnSpc>
                <a:spcPct val="115000"/>
              </a:lnSpc>
              <a:spcBef>
                <a:spcPts val="0"/>
              </a:spcBef>
              <a:spcAft>
                <a:spcPts val="0"/>
              </a:spcAft>
              <a:buSzPts val="1100"/>
              <a:buChar char="○"/>
            </a:pPr>
            <a:r>
              <a:rPr lang="en"/>
              <a:t>URI, URL</a:t>
            </a:r>
            <a:endParaRPr/>
          </a:p>
        </p:txBody>
      </p:sp>
      <p:sp>
        <p:nvSpPr>
          <p:cNvPr id="109" name="Google Shape;109;p5"/>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Three ‘core’ concepts of the web</a:t>
            </a:r>
            <a:endParaRPr/>
          </a:p>
        </p:txBody>
      </p:sp>
      <p:pic>
        <p:nvPicPr>
          <p:cNvPr id="110" name="Google Shape;110;p5"/>
          <p:cNvPicPr preferRelativeResize="0"/>
          <p:nvPr/>
        </p:nvPicPr>
        <p:blipFill rotWithShape="1">
          <a:blip r:embed="rId3">
            <a:alphaModFix/>
          </a:blip>
          <a:srcRect b="0" l="0" r="0" t="0"/>
          <a:stretch/>
        </p:blipFill>
        <p:spPr>
          <a:xfrm>
            <a:off x="4656025" y="2006250"/>
            <a:ext cx="3495030" cy="2984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fontScale="92500" lnSpcReduction="10000"/>
          </a:bodyPr>
          <a:lstStyle/>
          <a:p>
            <a:pPr indent="-304989" lvl="0" marL="457200" rtl="0" algn="l">
              <a:lnSpc>
                <a:spcPct val="115000"/>
              </a:lnSpc>
              <a:spcBef>
                <a:spcPts val="0"/>
              </a:spcBef>
              <a:spcAft>
                <a:spcPts val="0"/>
              </a:spcAft>
              <a:buSzPct val="100000"/>
              <a:buChar char="●"/>
            </a:pPr>
            <a:r>
              <a:rPr lang="en"/>
              <a:t>HTML - HypterText Markup Language	</a:t>
            </a:r>
            <a:endParaRPr/>
          </a:p>
          <a:p>
            <a:pPr indent="-293242" lvl="1" marL="914400" rtl="0" algn="l">
              <a:lnSpc>
                <a:spcPct val="115000"/>
              </a:lnSpc>
              <a:spcBef>
                <a:spcPts val="0"/>
              </a:spcBef>
              <a:spcAft>
                <a:spcPts val="0"/>
              </a:spcAft>
              <a:buSzPct val="100000"/>
              <a:buChar char="○"/>
            </a:pPr>
            <a:r>
              <a:rPr lang="en"/>
              <a:t>Primary language for ‘the web’</a:t>
            </a:r>
            <a:endParaRPr/>
          </a:p>
          <a:p>
            <a:pPr indent="-293242" lvl="1" marL="914400" rtl="0" algn="l">
              <a:lnSpc>
                <a:spcPct val="115000"/>
              </a:lnSpc>
              <a:spcBef>
                <a:spcPts val="0"/>
              </a:spcBef>
              <a:spcAft>
                <a:spcPts val="0"/>
              </a:spcAft>
              <a:buSzPct val="100000"/>
              <a:buChar char="○"/>
            </a:pPr>
            <a:r>
              <a:rPr lang="en"/>
              <a:t>Invented by Tim Berners-Lee in 1989 in the particle physics CERN laboratory</a:t>
            </a:r>
            <a:endParaRPr/>
          </a:p>
          <a:p>
            <a:pPr indent="-293242" lvl="1" marL="914400" rtl="0" algn="l">
              <a:lnSpc>
                <a:spcPct val="115000"/>
              </a:lnSpc>
              <a:spcBef>
                <a:spcPts val="0"/>
              </a:spcBef>
              <a:spcAft>
                <a:spcPts val="0"/>
              </a:spcAft>
              <a:buSzPct val="100000"/>
              <a:buChar char="○"/>
            </a:pPr>
            <a:r>
              <a:rPr lang="en"/>
              <a:t>First </a:t>
            </a:r>
            <a:r>
              <a:rPr b="1" lang="en"/>
              <a:t>graphical</a:t>
            </a:r>
            <a:r>
              <a:rPr lang="en"/>
              <a:t> browser in 1992</a:t>
            </a:r>
            <a:endParaRPr/>
          </a:p>
          <a:p>
            <a:pPr indent="-304989" lvl="0" marL="457200" rtl="0" algn="l">
              <a:lnSpc>
                <a:spcPct val="115000"/>
              </a:lnSpc>
              <a:spcBef>
                <a:spcPts val="0"/>
              </a:spcBef>
              <a:spcAft>
                <a:spcPts val="0"/>
              </a:spcAft>
              <a:buSzPct val="100000"/>
              <a:buChar char="●"/>
            </a:pPr>
            <a:r>
              <a:rPr lang="en"/>
              <a:t>CSS - Cascading Style Sheet</a:t>
            </a:r>
            <a:endParaRPr/>
          </a:p>
          <a:p>
            <a:pPr indent="-293242" lvl="1" marL="914400" rtl="0" algn="l">
              <a:lnSpc>
                <a:spcPct val="115000"/>
              </a:lnSpc>
              <a:spcBef>
                <a:spcPts val="0"/>
              </a:spcBef>
              <a:spcAft>
                <a:spcPts val="0"/>
              </a:spcAft>
              <a:buSzPct val="100000"/>
              <a:buChar char="○"/>
            </a:pPr>
            <a:r>
              <a:rPr lang="en"/>
              <a:t>Defines the </a:t>
            </a:r>
            <a:r>
              <a:rPr b="1" lang="en"/>
              <a:t>appearance</a:t>
            </a:r>
            <a:r>
              <a:rPr lang="en"/>
              <a:t> of a website</a:t>
            </a:r>
            <a:endParaRPr/>
          </a:p>
          <a:p>
            <a:pPr indent="-293242" lvl="1" marL="914400" rtl="0" algn="l">
              <a:lnSpc>
                <a:spcPct val="115000"/>
              </a:lnSpc>
              <a:spcBef>
                <a:spcPts val="0"/>
              </a:spcBef>
              <a:spcAft>
                <a:spcPts val="0"/>
              </a:spcAft>
              <a:buSzPct val="100000"/>
              <a:buChar char="○"/>
            </a:pPr>
            <a:r>
              <a:rPr lang="en"/>
              <a:t>Allows separation of content and presentation!</a:t>
            </a:r>
            <a:endParaRPr/>
          </a:p>
          <a:p>
            <a:pPr indent="-304989" lvl="0" marL="457200" rtl="0" algn="l">
              <a:lnSpc>
                <a:spcPct val="115000"/>
              </a:lnSpc>
              <a:spcBef>
                <a:spcPts val="0"/>
              </a:spcBef>
              <a:spcAft>
                <a:spcPts val="0"/>
              </a:spcAft>
              <a:buSzPct val="100000"/>
              <a:buChar char="●"/>
            </a:pPr>
            <a:r>
              <a:rPr lang="en"/>
              <a:t>Javascript </a:t>
            </a:r>
            <a:endParaRPr/>
          </a:p>
          <a:p>
            <a:pPr indent="-293242" lvl="1" marL="914400" rtl="0" algn="l">
              <a:lnSpc>
                <a:spcPct val="115000"/>
              </a:lnSpc>
              <a:spcBef>
                <a:spcPts val="0"/>
              </a:spcBef>
              <a:spcAft>
                <a:spcPts val="0"/>
              </a:spcAft>
              <a:buSzPct val="100000"/>
              <a:buChar char="○"/>
            </a:pPr>
            <a:r>
              <a:rPr lang="en"/>
              <a:t>High-level language that runs in a web browser</a:t>
            </a:r>
            <a:endParaRPr/>
          </a:p>
          <a:p>
            <a:pPr indent="-293242" lvl="1" marL="914400" rtl="0" algn="l">
              <a:lnSpc>
                <a:spcPct val="115000"/>
              </a:lnSpc>
              <a:spcBef>
                <a:spcPts val="0"/>
              </a:spcBef>
              <a:spcAft>
                <a:spcPts val="0"/>
              </a:spcAft>
              <a:buSzPct val="100000"/>
              <a:buChar char="○"/>
            </a:pPr>
            <a:r>
              <a:rPr lang="en"/>
              <a:t>Dynamic typing, object oriented… multi paradigm support</a:t>
            </a:r>
            <a:endParaRPr/>
          </a:p>
        </p:txBody>
      </p:sp>
      <p:sp>
        <p:nvSpPr>
          <p:cNvPr id="116" name="Google Shape;116;p6"/>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Some helpful terms</a:t>
            </a:r>
            <a:endParaRPr/>
          </a:p>
        </p:txBody>
      </p:sp>
      <p:pic>
        <p:nvPicPr>
          <p:cNvPr id="117" name="Google Shape;117;p6"/>
          <p:cNvPicPr preferRelativeResize="0"/>
          <p:nvPr/>
        </p:nvPicPr>
        <p:blipFill rotWithShape="1">
          <a:blip r:embed="rId3">
            <a:alphaModFix/>
          </a:blip>
          <a:srcRect b="0" l="0" r="0" t="0"/>
          <a:stretch/>
        </p:blipFill>
        <p:spPr>
          <a:xfrm>
            <a:off x="4572000" y="1853850"/>
            <a:ext cx="4335574" cy="280954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7"/>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The story</a:t>
            </a:r>
            <a:endParaRPr/>
          </a:p>
        </p:txBody>
      </p:sp>
      <p:sp>
        <p:nvSpPr>
          <p:cNvPr id="123" name="Google Shape;123;p7"/>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In 2005 Google releases their version of Google Earth</a:t>
            </a:r>
            <a:br>
              <a:rPr lang="en"/>
            </a:br>
            <a:endParaRPr/>
          </a:p>
          <a:p>
            <a:pPr indent="-311150" lvl="0" marL="457200" rtl="0" algn="l">
              <a:lnSpc>
                <a:spcPct val="115000"/>
              </a:lnSpc>
              <a:spcBef>
                <a:spcPts val="0"/>
              </a:spcBef>
              <a:spcAft>
                <a:spcPts val="0"/>
              </a:spcAft>
              <a:buSzPts val="1300"/>
              <a:buChar char="●"/>
            </a:pPr>
            <a:r>
              <a:rPr lang="en"/>
              <a:t>In June, they release the Google Maps API</a:t>
            </a:r>
            <a:br>
              <a:rPr lang="en"/>
            </a:br>
            <a:endParaRPr/>
          </a:p>
          <a:p>
            <a:pPr indent="-311150" lvl="0" marL="457200" rtl="0" algn="l">
              <a:lnSpc>
                <a:spcPct val="115000"/>
              </a:lnSpc>
              <a:spcBef>
                <a:spcPts val="0"/>
              </a:spcBef>
              <a:spcAft>
                <a:spcPts val="0"/>
              </a:spcAft>
              <a:buSzPts val="1300"/>
              <a:buChar char="●"/>
            </a:pPr>
            <a:r>
              <a:rPr lang="en"/>
              <a:t>This is one of the first major implementations of geospatial “Web 2.0”</a:t>
            </a:r>
            <a:endParaRPr/>
          </a:p>
        </p:txBody>
      </p:sp>
      <p:pic>
        <p:nvPicPr>
          <p:cNvPr id="124" name="Google Shape;124;p7"/>
          <p:cNvPicPr preferRelativeResize="0"/>
          <p:nvPr/>
        </p:nvPicPr>
        <p:blipFill rotWithShape="1">
          <a:blip r:embed="rId3">
            <a:alphaModFix/>
          </a:blip>
          <a:srcRect b="0" l="0" r="0" t="0"/>
          <a:stretch/>
        </p:blipFill>
        <p:spPr>
          <a:xfrm>
            <a:off x="4664925" y="1780675"/>
            <a:ext cx="3810000" cy="2857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8"/>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But it’s always already longer…</a:t>
            </a:r>
            <a:endParaRPr/>
          </a:p>
        </p:txBody>
      </p:sp>
      <p:sp>
        <p:nvSpPr>
          <p:cNvPr id="130" name="Google Shape;130;p8"/>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Google acquires Keyhole in October of 2004 </a:t>
            </a:r>
            <a:endParaRPr/>
          </a:p>
          <a:p>
            <a:pPr indent="-311150" lvl="0" marL="457200" rtl="0" algn="l">
              <a:lnSpc>
                <a:spcPct val="115000"/>
              </a:lnSpc>
              <a:spcBef>
                <a:spcPts val="0"/>
              </a:spcBef>
              <a:spcAft>
                <a:spcPts val="0"/>
              </a:spcAft>
              <a:buSzPts val="1300"/>
              <a:buChar char="●"/>
            </a:pPr>
            <a:r>
              <a:rPr lang="en"/>
              <a:t>Keyhole was supported by In-Q-Tel, the CIA’s venture capital firm (Mapbox was similarly supported)</a:t>
            </a:r>
            <a:endParaRPr/>
          </a:p>
          <a:p>
            <a:pPr indent="-311150" lvl="0" marL="457200" rtl="0" algn="l">
              <a:lnSpc>
                <a:spcPct val="115000"/>
              </a:lnSpc>
              <a:spcBef>
                <a:spcPts val="0"/>
              </a:spcBef>
              <a:spcAft>
                <a:spcPts val="0"/>
              </a:spcAft>
              <a:buSzPts val="1300"/>
              <a:buChar char="●"/>
            </a:pPr>
            <a:r>
              <a:rPr lang="en"/>
              <a:t>Keyhole relied on TerraVision which was a game development firm in the 1990s</a:t>
            </a:r>
            <a:endParaRPr/>
          </a:p>
          <a:p>
            <a:pPr indent="-311150" lvl="0" marL="457200" rtl="0" algn="l">
              <a:lnSpc>
                <a:spcPct val="115000"/>
              </a:lnSpc>
              <a:spcBef>
                <a:spcPts val="0"/>
              </a:spcBef>
              <a:spcAft>
                <a:spcPts val="0"/>
              </a:spcAft>
              <a:buSzPts val="1300"/>
              <a:buChar char="●"/>
            </a:pPr>
            <a:r>
              <a:rPr lang="en"/>
              <a:t>Navstar 1 launched in 1978</a:t>
            </a:r>
            <a:endParaRPr/>
          </a:p>
          <a:p>
            <a:pPr indent="-311150" lvl="0" marL="457200" rtl="0" algn="l">
              <a:lnSpc>
                <a:spcPct val="115000"/>
              </a:lnSpc>
              <a:spcBef>
                <a:spcPts val="0"/>
              </a:spcBef>
              <a:spcAft>
                <a:spcPts val="0"/>
              </a:spcAft>
              <a:buSzPts val="1300"/>
              <a:buChar char="●"/>
            </a:pPr>
            <a:r>
              <a:rPr lang="en"/>
              <a:t>TRANSIT was launched in 1959</a:t>
            </a:r>
            <a:endParaRPr/>
          </a:p>
        </p:txBody>
      </p:sp>
      <p:pic>
        <p:nvPicPr>
          <p:cNvPr id="131" name="Google Shape;131;p8"/>
          <p:cNvPicPr preferRelativeResize="0"/>
          <p:nvPr/>
        </p:nvPicPr>
        <p:blipFill rotWithShape="1">
          <a:blip r:embed="rId3">
            <a:alphaModFix/>
          </a:blip>
          <a:srcRect b="0" l="0" r="0" t="0"/>
          <a:stretch/>
        </p:blipFill>
        <p:spPr>
          <a:xfrm>
            <a:off x="4417850" y="1903432"/>
            <a:ext cx="4769052" cy="280846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9"/>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Raster Tiles</a:t>
            </a:r>
            <a:endParaRPr/>
          </a:p>
        </p:txBody>
      </p:sp>
      <p:sp>
        <p:nvSpPr>
          <p:cNvPr id="137" name="Google Shape;137;p9"/>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Still the most common (although changing)</a:t>
            </a:r>
            <a:endParaRPr/>
          </a:p>
          <a:p>
            <a:pPr indent="-311150" lvl="0" marL="457200" rtl="0" algn="l">
              <a:lnSpc>
                <a:spcPct val="115000"/>
              </a:lnSpc>
              <a:spcBef>
                <a:spcPts val="0"/>
              </a:spcBef>
              <a:spcAft>
                <a:spcPts val="0"/>
              </a:spcAft>
              <a:buSzPts val="1300"/>
              <a:buChar char="●"/>
            </a:pPr>
            <a:r>
              <a:rPr lang="en"/>
              <a:t>Map stylings are pre-assembled and broken apart into individual tiles</a:t>
            </a:r>
            <a:endParaRPr/>
          </a:p>
          <a:p>
            <a:pPr indent="-311150" lvl="0" marL="457200" rtl="0" algn="l">
              <a:lnSpc>
                <a:spcPct val="115000"/>
              </a:lnSpc>
              <a:spcBef>
                <a:spcPts val="0"/>
              </a:spcBef>
              <a:spcAft>
                <a:spcPts val="0"/>
              </a:spcAft>
              <a:buSzPts val="1300"/>
              <a:buChar char="●"/>
            </a:pPr>
            <a:r>
              <a:rPr lang="en"/>
              <a:t>May appear to be points, lines, or polygons - but those are ‘baked’ into static digital images</a:t>
            </a:r>
            <a:br>
              <a:rPr lang="en"/>
            </a:br>
            <a:endParaRPr/>
          </a:p>
          <a:p>
            <a:pPr indent="-311150" lvl="0" marL="457200" rtl="0" algn="l">
              <a:lnSpc>
                <a:spcPct val="115000"/>
              </a:lnSpc>
              <a:spcBef>
                <a:spcPts val="0"/>
              </a:spcBef>
              <a:spcAft>
                <a:spcPts val="0"/>
              </a:spcAft>
              <a:buSzPts val="1300"/>
              <a:buChar char="●"/>
            </a:pPr>
            <a:r>
              <a:rPr lang="en"/>
              <a:t>One advantage: fast loading times</a:t>
            </a:r>
            <a:endParaRPr/>
          </a:p>
        </p:txBody>
      </p:sp>
      <p:pic>
        <p:nvPicPr>
          <p:cNvPr id="138" name="Google Shape;138;p9"/>
          <p:cNvPicPr preferRelativeResize="0"/>
          <p:nvPr/>
        </p:nvPicPr>
        <p:blipFill rotWithShape="1">
          <a:blip r:embed="rId3">
            <a:alphaModFix/>
          </a:blip>
          <a:srcRect b="0" l="0" r="0" t="0"/>
          <a:stretch/>
        </p:blipFill>
        <p:spPr>
          <a:xfrm>
            <a:off x="5350825" y="1714600"/>
            <a:ext cx="2857500" cy="2857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0"/>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Vector Tiles</a:t>
            </a:r>
            <a:endParaRPr/>
          </a:p>
        </p:txBody>
      </p:sp>
      <p:sp>
        <p:nvSpPr>
          <p:cNvPr id="144" name="Google Shape;144;p10"/>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lnSpcReduction="10000"/>
          </a:bodyPr>
          <a:lstStyle/>
          <a:p>
            <a:pPr indent="-311150" lvl="0" marL="457200" rtl="0" algn="l">
              <a:lnSpc>
                <a:spcPct val="115000"/>
              </a:lnSpc>
              <a:spcBef>
                <a:spcPts val="0"/>
              </a:spcBef>
              <a:spcAft>
                <a:spcPts val="0"/>
              </a:spcAft>
              <a:buSzPts val="1300"/>
              <a:buChar char="●"/>
            </a:pPr>
            <a:r>
              <a:rPr lang="en"/>
              <a:t>Vector data is broken into tiles</a:t>
            </a:r>
            <a:endParaRPr/>
          </a:p>
          <a:p>
            <a:pPr indent="-311150" lvl="0" marL="457200" rtl="0" algn="l">
              <a:lnSpc>
                <a:spcPct val="115000"/>
              </a:lnSpc>
              <a:spcBef>
                <a:spcPts val="0"/>
              </a:spcBef>
              <a:spcAft>
                <a:spcPts val="0"/>
              </a:spcAft>
              <a:buSzPts val="1300"/>
              <a:buChar char="●"/>
            </a:pPr>
            <a:r>
              <a:rPr lang="en"/>
              <a:t>All the benefits and liabilities of vector data</a:t>
            </a:r>
            <a:endParaRPr/>
          </a:p>
          <a:p>
            <a:pPr indent="-298450" lvl="1" marL="914400" rtl="0" algn="l">
              <a:lnSpc>
                <a:spcPct val="115000"/>
              </a:lnSpc>
              <a:spcBef>
                <a:spcPts val="0"/>
              </a:spcBef>
              <a:spcAft>
                <a:spcPts val="0"/>
              </a:spcAft>
              <a:buSzPts val="1100"/>
              <a:buChar char="○"/>
            </a:pPr>
            <a:r>
              <a:rPr lang="en"/>
              <a:t>Less pronounced stepping through scales</a:t>
            </a:r>
            <a:endParaRPr/>
          </a:p>
          <a:p>
            <a:pPr indent="-298450" lvl="1" marL="914400" rtl="0" algn="l">
              <a:lnSpc>
                <a:spcPct val="115000"/>
              </a:lnSpc>
              <a:spcBef>
                <a:spcPts val="0"/>
              </a:spcBef>
              <a:spcAft>
                <a:spcPts val="0"/>
              </a:spcAft>
              <a:buSzPts val="1100"/>
              <a:buChar char="○"/>
            </a:pPr>
            <a:r>
              <a:rPr lang="en"/>
              <a:t>Data is repositioned according to rules as you move across scales (rather than pre-packaged at various levels)</a:t>
            </a:r>
            <a:endParaRPr/>
          </a:p>
          <a:p>
            <a:pPr indent="-311150" lvl="0" marL="457200" rtl="0" algn="l">
              <a:lnSpc>
                <a:spcPct val="115000"/>
              </a:lnSpc>
              <a:spcBef>
                <a:spcPts val="0"/>
              </a:spcBef>
              <a:spcAft>
                <a:spcPts val="0"/>
              </a:spcAft>
              <a:buSzPts val="1300"/>
              <a:buChar char="●"/>
            </a:pPr>
            <a:r>
              <a:rPr lang="en"/>
              <a:t>Google Maps, Apple Maps, Mapbox, and even OpenStreetMap are all implementations of vector tiles in various ways</a:t>
            </a:r>
            <a:endParaRPr/>
          </a:p>
        </p:txBody>
      </p:sp>
      <p:pic>
        <p:nvPicPr>
          <p:cNvPr id="145" name="Google Shape;145;p10"/>
          <p:cNvPicPr preferRelativeResize="0"/>
          <p:nvPr/>
        </p:nvPicPr>
        <p:blipFill rotWithShape="1">
          <a:blip r:embed="rId3">
            <a:alphaModFix/>
          </a:blip>
          <a:srcRect b="0" l="0" r="0" t="0"/>
          <a:stretch/>
        </p:blipFill>
        <p:spPr>
          <a:xfrm>
            <a:off x="4656025" y="2006250"/>
            <a:ext cx="4335574" cy="225906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1"/>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 common combination</a:t>
            </a:r>
            <a:endParaRPr/>
          </a:p>
        </p:txBody>
      </p:sp>
      <p:sp>
        <p:nvSpPr>
          <p:cNvPr id="151" name="Google Shape;151;p11"/>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A raster ‘base map’</a:t>
            </a:r>
            <a:endParaRPr/>
          </a:p>
          <a:p>
            <a:pPr indent="-311150" lvl="0" marL="457200" rtl="0" algn="l">
              <a:lnSpc>
                <a:spcPct val="115000"/>
              </a:lnSpc>
              <a:spcBef>
                <a:spcPts val="0"/>
              </a:spcBef>
              <a:spcAft>
                <a:spcPts val="0"/>
              </a:spcAft>
              <a:buSzPts val="1300"/>
              <a:buChar char="●"/>
            </a:pPr>
            <a:r>
              <a:rPr lang="en"/>
              <a:t>Vector data on top</a:t>
            </a:r>
            <a:endParaRPr/>
          </a:p>
          <a:p>
            <a:pPr indent="-311150" lvl="0" marL="457200" rtl="0" algn="l">
              <a:lnSpc>
                <a:spcPct val="115000"/>
              </a:lnSpc>
              <a:spcBef>
                <a:spcPts val="0"/>
              </a:spcBef>
              <a:spcAft>
                <a:spcPts val="0"/>
              </a:spcAft>
              <a:buSzPts val="1300"/>
              <a:buChar char="●"/>
            </a:pPr>
            <a:r>
              <a:rPr lang="en"/>
              <a:t>Roth et al. call this ‘hamburger cartography’</a:t>
            </a:r>
            <a:endParaRPr/>
          </a:p>
          <a:p>
            <a:pPr indent="-298450" lvl="1" marL="914400" rtl="0" algn="l">
              <a:lnSpc>
                <a:spcPct val="115000"/>
              </a:lnSpc>
              <a:spcBef>
                <a:spcPts val="0"/>
              </a:spcBef>
              <a:spcAft>
                <a:spcPts val="0"/>
              </a:spcAft>
              <a:buSzPts val="1100"/>
              <a:buChar char="○"/>
            </a:pPr>
            <a:r>
              <a:rPr lang="en"/>
              <a:t>Literally no one else does.</a:t>
            </a:r>
            <a:br>
              <a:rPr lang="en"/>
            </a:br>
            <a:br>
              <a:rPr lang="en"/>
            </a:br>
            <a:endParaRPr/>
          </a:p>
          <a:p>
            <a:pPr indent="-311150" lvl="0" marL="457200" rtl="0" algn="l">
              <a:lnSpc>
                <a:spcPct val="115000"/>
              </a:lnSpc>
              <a:spcBef>
                <a:spcPts val="0"/>
              </a:spcBef>
              <a:spcAft>
                <a:spcPts val="0"/>
              </a:spcAft>
              <a:buSzPts val="1300"/>
              <a:buChar char="●"/>
            </a:pPr>
            <a:r>
              <a:rPr lang="en"/>
              <a:t>We’ll be working on how you design ‘base maps’ later in the quarter with Mapbox Studio</a:t>
            </a:r>
            <a:endParaRPr/>
          </a:p>
        </p:txBody>
      </p:sp>
      <p:pic>
        <p:nvPicPr>
          <p:cNvPr id="152" name="Google Shape;152;p11"/>
          <p:cNvPicPr preferRelativeResize="0"/>
          <p:nvPr/>
        </p:nvPicPr>
        <p:blipFill rotWithShape="1">
          <a:blip r:embed="rId3">
            <a:alphaModFix/>
          </a:blip>
          <a:srcRect b="0" l="0" r="0" t="0"/>
          <a:stretch/>
        </p:blipFill>
        <p:spPr>
          <a:xfrm>
            <a:off x="4656025" y="2006250"/>
            <a:ext cx="4335575" cy="24967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2"/>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Let’s talk HTML</a:t>
            </a:r>
            <a:endParaRPr/>
          </a:p>
        </p:txBody>
      </p:sp>
      <p:sp>
        <p:nvSpPr>
          <p:cNvPr id="158" name="Google Shape;158;p12"/>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lnSpcReduction="10000"/>
          </a:bodyPr>
          <a:lstStyle/>
          <a:p>
            <a:pPr indent="-311150" lvl="0" marL="457200" rtl="0" algn="l">
              <a:lnSpc>
                <a:spcPct val="115000"/>
              </a:lnSpc>
              <a:spcBef>
                <a:spcPts val="0"/>
              </a:spcBef>
              <a:spcAft>
                <a:spcPts val="0"/>
              </a:spcAft>
              <a:buSzPts val="1300"/>
              <a:buChar char="●"/>
            </a:pPr>
            <a:r>
              <a:rPr b="1" lang="en"/>
              <a:t>HyperText Markup Language</a:t>
            </a:r>
            <a:r>
              <a:rPr lang="en"/>
              <a:t> is the standard markup language for web browsers.</a:t>
            </a:r>
            <a:endParaRPr/>
          </a:p>
          <a:p>
            <a:pPr indent="-311150" lvl="0" marL="457200" rtl="0" algn="l">
              <a:lnSpc>
                <a:spcPct val="115000"/>
              </a:lnSpc>
              <a:spcBef>
                <a:spcPts val="0"/>
              </a:spcBef>
              <a:spcAft>
                <a:spcPts val="0"/>
              </a:spcAft>
              <a:buSzPts val="1300"/>
              <a:buChar char="●"/>
            </a:pPr>
            <a:r>
              <a:rPr lang="en"/>
              <a:t>Websites usually consist of:</a:t>
            </a:r>
            <a:endParaRPr/>
          </a:p>
          <a:p>
            <a:pPr indent="-298450" lvl="1" marL="914400" rtl="0" algn="l">
              <a:lnSpc>
                <a:spcPct val="115000"/>
              </a:lnSpc>
              <a:spcBef>
                <a:spcPts val="0"/>
              </a:spcBef>
              <a:spcAft>
                <a:spcPts val="0"/>
              </a:spcAft>
              <a:buSzPts val="1100"/>
              <a:buChar char="○"/>
            </a:pPr>
            <a:r>
              <a:rPr b="1" lang="en"/>
              <a:t>HTML</a:t>
            </a:r>
            <a:r>
              <a:rPr lang="en"/>
              <a:t> tell browsers what elements of a webpage go where</a:t>
            </a:r>
            <a:endParaRPr/>
          </a:p>
          <a:p>
            <a:pPr indent="-298450" lvl="1" marL="914400" rtl="0" algn="l">
              <a:lnSpc>
                <a:spcPct val="115000"/>
              </a:lnSpc>
              <a:spcBef>
                <a:spcPts val="0"/>
              </a:spcBef>
              <a:spcAft>
                <a:spcPts val="0"/>
              </a:spcAft>
              <a:buSzPts val="1100"/>
              <a:buChar char="○"/>
            </a:pPr>
            <a:r>
              <a:rPr b="1" lang="en"/>
              <a:t>CSS </a:t>
            </a:r>
            <a:r>
              <a:rPr lang="en"/>
              <a:t>handles what those elements look like</a:t>
            </a:r>
            <a:endParaRPr/>
          </a:p>
          <a:p>
            <a:pPr indent="-298450" lvl="1" marL="914400" rtl="0" algn="l">
              <a:lnSpc>
                <a:spcPct val="115000"/>
              </a:lnSpc>
              <a:spcBef>
                <a:spcPts val="0"/>
              </a:spcBef>
              <a:spcAft>
                <a:spcPts val="0"/>
              </a:spcAft>
              <a:buSzPts val="1100"/>
              <a:buChar char="○"/>
            </a:pPr>
            <a:r>
              <a:rPr b="1" lang="en"/>
              <a:t>Javascript </a:t>
            </a:r>
            <a:r>
              <a:rPr lang="en"/>
              <a:t>handles dynamic aspects</a:t>
            </a:r>
            <a:endParaRPr/>
          </a:p>
          <a:p>
            <a:pPr indent="-311150" lvl="0" marL="457200" rtl="0" algn="l">
              <a:lnSpc>
                <a:spcPct val="115000"/>
              </a:lnSpc>
              <a:spcBef>
                <a:spcPts val="0"/>
              </a:spcBef>
              <a:spcAft>
                <a:spcPts val="0"/>
              </a:spcAft>
              <a:buSzPts val="1300"/>
              <a:buChar char="●"/>
            </a:pPr>
            <a:r>
              <a:rPr lang="en"/>
              <a:t>A common set up for a website’s file structure is to the right</a:t>
            </a:r>
            <a:endParaRPr/>
          </a:p>
        </p:txBody>
      </p:sp>
      <p:pic>
        <p:nvPicPr>
          <p:cNvPr id="159" name="Google Shape;159;p12"/>
          <p:cNvPicPr preferRelativeResize="0"/>
          <p:nvPr/>
        </p:nvPicPr>
        <p:blipFill rotWithShape="1">
          <a:blip r:embed="rId3">
            <a:alphaModFix/>
          </a:blip>
          <a:srcRect b="0" l="0" r="0" t="0"/>
          <a:stretch/>
        </p:blipFill>
        <p:spPr>
          <a:xfrm>
            <a:off x="4572000" y="1853850"/>
            <a:ext cx="4335574" cy="280954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3"/>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HTML, CSS, and Javascript - a ‘cheat sheet’</a:t>
            </a:r>
            <a:endParaRPr/>
          </a:p>
        </p:txBody>
      </p:sp>
      <p:pic>
        <p:nvPicPr>
          <p:cNvPr id="165" name="Google Shape;165;p13"/>
          <p:cNvPicPr preferRelativeResize="0"/>
          <p:nvPr/>
        </p:nvPicPr>
        <p:blipFill rotWithShape="1">
          <a:blip r:embed="rId3">
            <a:alphaModFix/>
          </a:blip>
          <a:srcRect b="0" l="0" r="0" t="0"/>
          <a:stretch/>
        </p:blipFill>
        <p:spPr>
          <a:xfrm>
            <a:off x="2136388" y="2377325"/>
            <a:ext cx="4871225" cy="1209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4"/>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u="sng">
                <a:solidFill>
                  <a:schemeClr val="hlink"/>
                </a:solidFill>
                <a:hlinkClick r:id="rId3"/>
              </a:rPr>
              <a:t>https://www.oregonstate.edu</a:t>
            </a:r>
            <a:endParaRPr/>
          </a:p>
        </p:txBody>
      </p:sp>
      <p:sp>
        <p:nvSpPr>
          <p:cNvPr id="171" name="Google Shape;171;p14"/>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http:// - this is the </a:t>
            </a:r>
            <a:r>
              <a:rPr b="1" lang="en"/>
              <a:t>scheme</a:t>
            </a:r>
            <a:r>
              <a:rPr lang="en"/>
              <a:t>. It tells the browser </a:t>
            </a:r>
            <a:r>
              <a:rPr b="1" lang="en"/>
              <a:t>how</a:t>
            </a:r>
            <a:r>
              <a:rPr lang="en"/>
              <a:t> to connect to the server.</a:t>
            </a:r>
            <a:br>
              <a:rPr lang="en"/>
            </a:br>
            <a:endParaRPr/>
          </a:p>
          <a:p>
            <a:pPr indent="-311150" lvl="0" marL="457200" rtl="0" algn="l">
              <a:lnSpc>
                <a:spcPct val="115000"/>
              </a:lnSpc>
              <a:spcBef>
                <a:spcPts val="0"/>
              </a:spcBef>
              <a:spcAft>
                <a:spcPts val="0"/>
              </a:spcAft>
              <a:buSzPts val="1300"/>
              <a:buChar char="●"/>
            </a:pPr>
            <a:r>
              <a:rPr lang="en" u="sng">
                <a:solidFill>
                  <a:schemeClr val="hlink"/>
                </a:solidFill>
                <a:hlinkClick r:id="rId4"/>
              </a:rPr>
              <a:t>www.oregonstate.edu</a:t>
            </a:r>
            <a:r>
              <a:rPr lang="en"/>
              <a:t> - this is the </a:t>
            </a:r>
            <a:r>
              <a:rPr b="1" lang="en"/>
              <a:t>domain name</a:t>
            </a:r>
            <a:r>
              <a:rPr lang="en"/>
              <a:t>. It points to a specific IP address that is resolved through a DNS lookup process</a:t>
            </a:r>
            <a:endParaRPr/>
          </a:p>
        </p:txBody>
      </p:sp>
      <p:sp>
        <p:nvSpPr>
          <p:cNvPr id="172" name="Google Shape;172;p14"/>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AutoNum type="arabicPeriod"/>
            </a:pPr>
            <a:r>
              <a:rPr lang="en"/>
              <a:t>Look up the Unique Resource Identifier/Location with a DNS server (or cache) to resolve to an unique IP address.</a:t>
            </a:r>
            <a:endParaRPr/>
          </a:p>
          <a:p>
            <a:pPr indent="-311150" lvl="0" marL="457200" rtl="0" algn="l">
              <a:lnSpc>
                <a:spcPct val="115000"/>
              </a:lnSpc>
              <a:spcBef>
                <a:spcPts val="0"/>
              </a:spcBef>
              <a:spcAft>
                <a:spcPts val="0"/>
              </a:spcAft>
              <a:buSzPts val="1300"/>
              <a:buAutoNum type="arabicPeriod"/>
            </a:pPr>
            <a:r>
              <a:rPr lang="en"/>
              <a:t>Connect to the server using Transport Layer Security (TLS) (that’s what the s in https signals)</a:t>
            </a:r>
            <a:endParaRPr/>
          </a:p>
          <a:p>
            <a:pPr indent="-311150" lvl="0" marL="457200" rtl="0" algn="l">
              <a:lnSpc>
                <a:spcPct val="115000"/>
              </a:lnSpc>
              <a:spcBef>
                <a:spcPts val="0"/>
              </a:spcBef>
              <a:spcAft>
                <a:spcPts val="0"/>
              </a:spcAft>
              <a:buSzPts val="1300"/>
              <a:buAutoNum type="arabicPeriod"/>
            </a:pPr>
            <a:r>
              <a:rPr lang="en"/>
              <a:t>Send an HTTP GET request.</a:t>
            </a:r>
            <a:endParaRPr/>
          </a:p>
          <a:p>
            <a:pPr indent="-311150" lvl="0" marL="457200" rtl="0" algn="l">
              <a:lnSpc>
                <a:spcPct val="115000"/>
              </a:lnSpc>
              <a:spcBef>
                <a:spcPts val="0"/>
              </a:spcBef>
              <a:spcAft>
                <a:spcPts val="0"/>
              </a:spcAft>
              <a:buSzPts val="1300"/>
              <a:buAutoNum type="arabicPeriod"/>
            </a:pPr>
            <a:r>
              <a:rPr lang="en"/>
              <a:t>Display the content received.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5"/>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Right, but then?</a:t>
            </a:r>
            <a:endParaRPr/>
          </a:p>
        </p:txBody>
      </p:sp>
      <p:sp>
        <p:nvSpPr>
          <p:cNvPr id="178" name="Google Shape;178;p15"/>
          <p:cNvSpPr txBox="1"/>
          <p:nvPr>
            <p:ph idx="1" type="body"/>
          </p:nvPr>
        </p:nvSpPr>
        <p:spPr>
          <a:xfrm>
            <a:off x="121450" y="1853850"/>
            <a:ext cx="37743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The </a:t>
            </a:r>
            <a:r>
              <a:rPr b="1" lang="en"/>
              <a:t>D</a:t>
            </a:r>
            <a:r>
              <a:rPr lang="en"/>
              <a:t>ocument </a:t>
            </a:r>
            <a:r>
              <a:rPr b="1" lang="en"/>
              <a:t>O</a:t>
            </a:r>
            <a:r>
              <a:rPr lang="en"/>
              <a:t>bject </a:t>
            </a:r>
            <a:r>
              <a:rPr b="1" lang="en"/>
              <a:t>M</a:t>
            </a:r>
            <a:r>
              <a:rPr lang="en"/>
              <a:t>odel represents the hierarchy of elements on a web page.</a:t>
            </a:r>
            <a:endParaRPr/>
          </a:p>
          <a:p>
            <a:pPr indent="-311150" lvl="0" marL="457200" rtl="0" algn="l">
              <a:lnSpc>
                <a:spcPct val="115000"/>
              </a:lnSpc>
              <a:spcBef>
                <a:spcPts val="0"/>
              </a:spcBef>
              <a:spcAft>
                <a:spcPts val="0"/>
              </a:spcAft>
              <a:buSzPts val="1300"/>
              <a:buChar char="●"/>
            </a:pPr>
            <a:r>
              <a:rPr lang="en"/>
              <a:t>Cross-platform, language-independent </a:t>
            </a:r>
            <a:r>
              <a:rPr b="1" lang="en"/>
              <a:t>tree structure</a:t>
            </a:r>
            <a:r>
              <a:rPr lang="en"/>
              <a:t> where each node in the tree is an object representing some part of the document (data, image, text block, etc.).</a:t>
            </a:r>
            <a:endParaRPr/>
          </a:p>
          <a:p>
            <a:pPr indent="-311150" lvl="0" marL="457200" rtl="0" algn="l">
              <a:lnSpc>
                <a:spcPct val="115000"/>
              </a:lnSpc>
              <a:spcBef>
                <a:spcPts val="0"/>
              </a:spcBef>
              <a:spcAft>
                <a:spcPts val="0"/>
              </a:spcAft>
              <a:buSzPts val="1300"/>
              <a:buChar char="●"/>
            </a:pPr>
            <a:r>
              <a:rPr lang="en"/>
              <a:t>Includes all CSS styles… all javascript variables and functions, and all the HTML elements and their attributes…</a:t>
            </a:r>
            <a:endParaRPr/>
          </a:p>
        </p:txBody>
      </p:sp>
      <p:pic>
        <p:nvPicPr>
          <p:cNvPr id="179" name="Google Shape;179;p15"/>
          <p:cNvPicPr preferRelativeResize="0"/>
          <p:nvPr/>
        </p:nvPicPr>
        <p:blipFill rotWithShape="1">
          <a:blip r:embed="rId3">
            <a:alphaModFix/>
          </a:blip>
          <a:srcRect b="0" l="0" r="0" t="0"/>
          <a:stretch/>
        </p:blipFill>
        <p:spPr>
          <a:xfrm>
            <a:off x="2375825" y="3070826"/>
            <a:ext cx="6657525" cy="2020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16"/>
          <p:cNvPicPr preferRelativeResize="0"/>
          <p:nvPr/>
        </p:nvPicPr>
        <p:blipFill rotWithShape="1">
          <a:blip r:embed="rId3">
            <a:alphaModFix/>
          </a:blip>
          <a:srcRect b="0" l="0" r="0" t="0"/>
          <a:stretch/>
        </p:blipFill>
        <p:spPr>
          <a:xfrm>
            <a:off x="966788" y="1385888"/>
            <a:ext cx="7210425" cy="2371725"/>
          </a:xfrm>
          <a:prstGeom prst="rect">
            <a:avLst/>
          </a:prstGeom>
          <a:noFill/>
          <a:ln>
            <a:noFill/>
          </a:ln>
        </p:spPr>
      </p:pic>
      <p:sp>
        <p:nvSpPr>
          <p:cNvPr id="185" name="Google Shape;185;p16"/>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fontScale="92500"/>
          </a:bodyPr>
          <a:lstStyle/>
          <a:p>
            <a:pPr indent="0" lvl="0" marL="0" rtl="0" algn="l">
              <a:lnSpc>
                <a:spcPct val="100000"/>
              </a:lnSpc>
              <a:spcBef>
                <a:spcPts val="0"/>
              </a:spcBef>
              <a:spcAft>
                <a:spcPts val="0"/>
              </a:spcAft>
              <a:buSzPct val="108108"/>
              <a:buNone/>
            </a:pPr>
            <a:r>
              <a:rPr lang="en"/>
              <a:t>We reference objects through the DOM which allows for interactivity… and all web mapping… to take place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7"/>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n"/>
              <a:t>Right click (command click on a mac).</a:t>
            </a:r>
            <a:endParaRPr/>
          </a:p>
          <a:p>
            <a:pPr indent="0" lvl="0" marL="0" rtl="0" algn="l">
              <a:lnSpc>
                <a:spcPct val="115000"/>
              </a:lnSpc>
              <a:spcBef>
                <a:spcPts val="1200"/>
              </a:spcBef>
              <a:spcAft>
                <a:spcPts val="0"/>
              </a:spcAft>
              <a:buSzPts val="1300"/>
              <a:buNone/>
            </a:pPr>
            <a:r>
              <a:rPr lang="en"/>
              <a:t>Choose “Inspect” or “Inspect Element”</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1200"/>
              </a:spcAft>
              <a:buSzPts val="1300"/>
              <a:buNone/>
            </a:pPr>
            <a:r>
              <a:rPr lang="en"/>
              <a:t>What do you see?</a:t>
            </a:r>
            <a:endParaRPr/>
          </a:p>
        </p:txBody>
      </p:sp>
      <p:sp>
        <p:nvSpPr>
          <p:cNvPr id="191" name="Google Shape;191;p17"/>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n"/>
              <a:t>Go to any old web page</a:t>
            </a:r>
            <a:br>
              <a:rPr lang="en"/>
            </a:br>
            <a:endParaRPr sz="1300"/>
          </a:p>
        </p:txBody>
      </p:sp>
      <p:pic>
        <p:nvPicPr>
          <p:cNvPr id="192" name="Google Shape;192;p17"/>
          <p:cNvPicPr preferRelativeResize="0"/>
          <p:nvPr/>
        </p:nvPicPr>
        <p:blipFill rotWithShape="1">
          <a:blip r:embed="rId3">
            <a:alphaModFix/>
          </a:blip>
          <a:srcRect b="0" l="0" r="0" t="0"/>
          <a:stretch/>
        </p:blipFill>
        <p:spPr>
          <a:xfrm>
            <a:off x="5551273" y="1352900"/>
            <a:ext cx="2626851" cy="36069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8"/>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Some common HTML tags</a:t>
            </a:r>
            <a:endParaRPr/>
          </a:p>
        </p:txBody>
      </p:sp>
      <p:sp>
        <p:nvSpPr>
          <p:cNvPr id="198" name="Google Shape;198;p18"/>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b="1" lang="en"/>
              <a:t>Head</a:t>
            </a:r>
            <a:r>
              <a:rPr lang="en"/>
              <a:t> and </a:t>
            </a:r>
            <a:r>
              <a:rPr b="1" lang="en"/>
              <a:t>Body</a:t>
            </a:r>
            <a:r>
              <a:rPr lang="en"/>
              <a:t> are large containers</a:t>
            </a:r>
            <a:endParaRPr/>
          </a:p>
          <a:p>
            <a:pPr indent="-298450" lvl="1" marL="914400" rtl="0" algn="l">
              <a:lnSpc>
                <a:spcPct val="115000"/>
              </a:lnSpc>
              <a:spcBef>
                <a:spcPts val="0"/>
              </a:spcBef>
              <a:spcAft>
                <a:spcPts val="0"/>
              </a:spcAft>
              <a:buSzPts val="1100"/>
              <a:buChar char="○"/>
            </a:pPr>
            <a:r>
              <a:rPr lang="en"/>
              <a:t>&lt;head&gt; … &lt;/head&gt;</a:t>
            </a:r>
            <a:endParaRPr/>
          </a:p>
          <a:p>
            <a:pPr indent="-298450" lvl="2" marL="1371600" rtl="0" algn="l">
              <a:lnSpc>
                <a:spcPct val="115000"/>
              </a:lnSpc>
              <a:spcBef>
                <a:spcPts val="0"/>
              </a:spcBef>
              <a:spcAft>
                <a:spcPts val="0"/>
              </a:spcAft>
              <a:buSzPts val="1100"/>
              <a:buChar char="■"/>
            </a:pPr>
            <a:r>
              <a:rPr lang="en"/>
              <a:t>Contains meta information, styles, links, etc.</a:t>
            </a:r>
            <a:endParaRPr/>
          </a:p>
          <a:p>
            <a:pPr indent="-298450" lvl="1" marL="914400" rtl="0" algn="l">
              <a:lnSpc>
                <a:spcPct val="115000"/>
              </a:lnSpc>
              <a:spcBef>
                <a:spcPts val="0"/>
              </a:spcBef>
              <a:spcAft>
                <a:spcPts val="0"/>
              </a:spcAft>
              <a:buSzPts val="1100"/>
              <a:buChar char="○"/>
            </a:pPr>
            <a:r>
              <a:rPr lang="en"/>
              <a:t>&lt;body&gt; … &lt;/body&gt;</a:t>
            </a:r>
            <a:endParaRPr/>
          </a:p>
          <a:p>
            <a:pPr indent="-298450" lvl="2" marL="1371600" rtl="0" algn="l">
              <a:lnSpc>
                <a:spcPct val="115000"/>
              </a:lnSpc>
              <a:spcBef>
                <a:spcPts val="0"/>
              </a:spcBef>
              <a:spcAft>
                <a:spcPts val="0"/>
              </a:spcAft>
              <a:buSzPts val="1100"/>
              <a:buChar char="■"/>
            </a:pPr>
            <a:r>
              <a:rPr lang="en"/>
              <a:t>All document content elements usually go here!</a:t>
            </a:r>
            <a:endParaRPr/>
          </a:p>
          <a:p>
            <a:pPr indent="-311150" lvl="0" marL="457200" rtl="0" algn="l">
              <a:lnSpc>
                <a:spcPct val="115000"/>
              </a:lnSpc>
              <a:spcBef>
                <a:spcPts val="0"/>
              </a:spcBef>
              <a:spcAft>
                <a:spcPts val="0"/>
              </a:spcAft>
              <a:buSzPts val="1300"/>
              <a:buChar char="●"/>
            </a:pPr>
            <a:r>
              <a:rPr b="1" lang="en"/>
              <a:t>Paragraph</a:t>
            </a:r>
            <a:r>
              <a:rPr lang="en"/>
              <a:t> is for large blocks of text</a:t>
            </a:r>
            <a:endParaRPr/>
          </a:p>
          <a:p>
            <a:pPr indent="-298450" lvl="1" marL="914400" rtl="0" algn="l">
              <a:lnSpc>
                <a:spcPct val="115000"/>
              </a:lnSpc>
              <a:spcBef>
                <a:spcPts val="0"/>
              </a:spcBef>
              <a:spcAft>
                <a:spcPts val="0"/>
              </a:spcAft>
              <a:buSzPts val="1100"/>
              <a:buChar char="○"/>
            </a:pPr>
            <a:r>
              <a:rPr lang="en"/>
              <a:t>&lt;p&gt; My novel goes here. &lt;/p&gt;</a:t>
            </a:r>
            <a:endParaRPr/>
          </a:p>
        </p:txBody>
      </p:sp>
      <p:sp>
        <p:nvSpPr>
          <p:cNvPr id="199" name="Google Shape;199;p18"/>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b="1" lang="en"/>
              <a:t>Images</a:t>
            </a:r>
            <a:r>
              <a:rPr lang="en"/>
              <a:t> and </a:t>
            </a:r>
            <a:r>
              <a:rPr b="1" lang="en"/>
              <a:t>Links</a:t>
            </a:r>
            <a:r>
              <a:rPr lang="en"/>
              <a:t> are for…</a:t>
            </a:r>
            <a:endParaRPr/>
          </a:p>
          <a:p>
            <a:pPr indent="-298450" lvl="1" marL="914400" rtl="0" algn="l">
              <a:lnSpc>
                <a:spcPct val="115000"/>
              </a:lnSpc>
              <a:spcBef>
                <a:spcPts val="0"/>
              </a:spcBef>
              <a:spcAft>
                <a:spcPts val="0"/>
              </a:spcAft>
              <a:buSzPts val="1100"/>
              <a:buChar char="○"/>
            </a:pPr>
            <a:r>
              <a:rPr lang="en"/>
              <a:t>&lt;a href=”</a:t>
            </a:r>
            <a:r>
              <a:rPr lang="en" u="sng">
                <a:solidFill>
                  <a:schemeClr val="hlink"/>
                </a:solidFill>
                <a:hlinkClick r:id="rId3"/>
              </a:rPr>
              <a:t>http://</a:t>
            </a:r>
            <a:r>
              <a:rPr lang="en"/>
              <a:t>joshreads.com”&gt; A website I like &lt;/a&gt;</a:t>
            </a:r>
            <a:endParaRPr/>
          </a:p>
          <a:p>
            <a:pPr indent="-298450" lvl="1" marL="914400" rtl="0" algn="l">
              <a:lnSpc>
                <a:spcPct val="115000"/>
              </a:lnSpc>
              <a:spcBef>
                <a:spcPts val="0"/>
              </a:spcBef>
              <a:spcAft>
                <a:spcPts val="0"/>
              </a:spcAft>
              <a:buSzPts val="1100"/>
              <a:buChar char="○"/>
            </a:pPr>
            <a:r>
              <a:rPr lang="en"/>
              <a:t>&lt;img src=”local or link location” alt=”Description”/&gt;</a:t>
            </a:r>
            <a:endParaRPr/>
          </a:p>
          <a:p>
            <a:pPr indent="-298450" lvl="2" marL="1371600" rtl="0" algn="l">
              <a:lnSpc>
                <a:spcPct val="115000"/>
              </a:lnSpc>
              <a:spcBef>
                <a:spcPts val="0"/>
              </a:spcBef>
              <a:spcAft>
                <a:spcPts val="0"/>
              </a:spcAft>
              <a:buSzPts val="1100"/>
              <a:buChar char="■"/>
            </a:pPr>
            <a:r>
              <a:rPr lang="en"/>
              <a:t>Why do you think we use that alt there?</a:t>
            </a:r>
            <a:endParaRPr/>
          </a:p>
          <a:p>
            <a:pPr indent="-298450" lvl="2" marL="1371600" rtl="0" algn="l">
              <a:lnSpc>
                <a:spcPct val="115000"/>
              </a:lnSpc>
              <a:spcBef>
                <a:spcPts val="0"/>
              </a:spcBef>
              <a:spcAft>
                <a:spcPts val="0"/>
              </a:spcAft>
              <a:buSzPts val="1100"/>
              <a:buChar char="■"/>
            </a:pPr>
            <a:r>
              <a:rPr lang="en"/>
              <a:t>You can also specify size and style in that tag.</a:t>
            </a:r>
            <a:endParaRPr/>
          </a:p>
          <a:p>
            <a:pPr indent="-298450" lvl="1" marL="914400" rtl="0" algn="l">
              <a:lnSpc>
                <a:spcPct val="115000"/>
              </a:lnSpc>
              <a:spcBef>
                <a:spcPts val="0"/>
              </a:spcBef>
              <a:spcAft>
                <a:spcPts val="0"/>
              </a:spcAft>
              <a:buSzPts val="1100"/>
              <a:buChar char="○"/>
            </a:pPr>
            <a:r>
              <a:rPr lang="en"/>
              <a:t>You can embed one in the other!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9"/>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Some common HTML tags</a:t>
            </a:r>
            <a:endParaRPr/>
          </a:p>
        </p:txBody>
      </p:sp>
      <p:sp>
        <p:nvSpPr>
          <p:cNvPr id="205" name="Google Shape;205;p19"/>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b="1" lang="en"/>
              <a:t>Lists</a:t>
            </a:r>
            <a:r>
              <a:rPr lang="en"/>
              <a:t> can be ordered or unordered.</a:t>
            </a:r>
            <a:endParaRPr/>
          </a:p>
          <a:p>
            <a:pPr indent="-298450" lvl="1" marL="914400" rtl="0" algn="l">
              <a:lnSpc>
                <a:spcPct val="115000"/>
              </a:lnSpc>
              <a:spcBef>
                <a:spcPts val="0"/>
              </a:spcBef>
              <a:spcAft>
                <a:spcPts val="0"/>
              </a:spcAft>
              <a:buSzPts val="1100"/>
              <a:buChar char="○"/>
            </a:pPr>
            <a:r>
              <a:rPr b="1" lang="en"/>
              <a:t>Unordered:</a:t>
            </a:r>
            <a:endParaRPr/>
          </a:p>
          <a:p>
            <a:pPr indent="-298450" lvl="2" marL="1371600" rtl="0" algn="l">
              <a:lnSpc>
                <a:spcPct val="115000"/>
              </a:lnSpc>
              <a:spcBef>
                <a:spcPts val="0"/>
              </a:spcBef>
              <a:spcAft>
                <a:spcPts val="0"/>
              </a:spcAft>
              <a:buSzPts val="1100"/>
              <a:buChar char="■"/>
            </a:pPr>
            <a:r>
              <a:rPr lang="en"/>
              <a:t>&lt;ul&gt; … &lt;/ul&gt;</a:t>
            </a:r>
            <a:endParaRPr/>
          </a:p>
          <a:p>
            <a:pPr indent="-298450" lvl="1" marL="914400" rtl="0" algn="l">
              <a:lnSpc>
                <a:spcPct val="115000"/>
              </a:lnSpc>
              <a:spcBef>
                <a:spcPts val="0"/>
              </a:spcBef>
              <a:spcAft>
                <a:spcPts val="0"/>
              </a:spcAft>
              <a:buSzPts val="1100"/>
              <a:buChar char="○"/>
            </a:pPr>
            <a:r>
              <a:rPr b="1" lang="en"/>
              <a:t>Ordered:</a:t>
            </a:r>
            <a:endParaRPr/>
          </a:p>
          <a:p>
            <a:pPr indent="-298450" lvl="2" marL="1371600" rtl="0" algn="l">
              <a:lnSpc>
                <a:spcPct val="115000"/>
              </a:lnSpc>
              <a:spcBef>
                <a:spcPts val="0"/>
              </a:spcBef>
              <a:spcAft>
                <a:spcPts val="0"/>
              </a:spcAft>
              <a:buSzPts val="1100"/>
              <a:buChar char="■"/>
            </a:pPr>
            <a:r>
              <a:rPr lang="en"/>
              <a:t>&lt;ol&gt; … &lt;/ol&gt;</a:t>
            </a:r>
            <a:endParaRPr/>
          </a:p>
          <a:p>
            <a:pPr indent="-298450" lvl="1" marL="914400" rtl="0" algn="l">
              <a:lnSpc>
                <a:spcPct val="115000"/>
              </a:lnSpc>
              <a:spcBef>
                <a:spcPts val="0"/>
              </a:spcBef>
              <a:spcAft>
                <a:spcPts val="0"/>
              </a:spcAft>
              <a:buSzPts val="1100"/>
              <a:buChar char="○"/>
            </a:pPr>
            <a:r>
              <a:rPr lang="en"/>
              <a:t>In both, use:</a:t>
            </a:r>
            <a:endParaRPr/>
          </a:p>
          <a:p>
            <a:pPr indent="-298450" lvl="2" marL="1371600" rtl="0" algn="l">
              <a:lnSpc>
                <a:spcPct val="115000"/>
              </a:lnSpc>
              <a:spcBef>
                <a:spcPts val="0"/>
              </a:spcBef>
              <a:spcAft>
                <a:spcPts val="0"/>
              </a:spcAft>
              <a:buSzPts val="1100"/>
              <a:buChar char="■"/>
            </a:pPr>
            <a:r>
              <a:rPr lang="en"/>
              <a:t>&lt;li&gt; … &lt;/li&gt; for each entry.</a:t>
            </a:r>
            <a:endParaRPr/>
          </a:p>
        </p:txBody>
      </p:sp>
      <p:sp>
        <p:nvSpPr>
          <p:cNvPr id="206" name="Google Shape;206;p19"/>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lnSpcReduction="20000"/>
          </a:bodyPr>
          <a:lstStyle/>
          <a:p>
            <a:pPr indent="-311150" lvl="0" marL="457200" rtl="0" algn="l">
              <a:lnSpc>
                <a:spcPct val="115000"/>
              </a:lnSpc>
              <a:spcBef>
                <a:spcPts val="0"/>
              </a:spcBef>
              <a:spcAft>
                <a:spcPts val="0"/>
              </a:spcAft>
              <a:buSzPts val="1300"/>
              <a:buChar char="●"/>
            </a:pPr>
            <a:r>
              <a:rPr b="1" lang="en"/>
              <a:t>Div</a:t>
            </a:r>
            <a:r>
              <a:rPr lang="en"/>
              <a:t> defines a division or section of a page</a:t>
            </a:r>
            <a:endParaRPr/>
          </a:p>
          <a:p>
            <a:pPr indent="-298450" lvl="1" marL="914400" rtl="0" algn="l">
              <a:lnSpc>
                <a:spcPct val="115000"/>
              </a:lnSpc>
              <a:spcBef>
                <a:spcPts val="0"/>
              </a:spcBef>
              <a:spcAft>
                <a:spcPts val="0"/>
              </a:spcAft>
              <a:buSzPts val="1100"/>
              <a:buChar char="○"/>
            </a:pPr>
            <a:r>
              <a:rPr lang="en"/>
              <a:t>&lt;div id=”main”&gt; …. &lt;/div&gt;</a:t>
            </a:r>
            <a:br>
              <a:rPr lang="en"/>
            </a:br>
            <a:br>
              <a:rPr lang="en"/>
            </a:br>
            <a:endParaRPr/>
          </a:p>
          <a:p>
            <a:pPr indent="-311150" lvl="0" marL="457200" rtl="0" algn="l">
              <a:lnSpc>
                <a:spcPct val="115000"/>
              </a:lnSpc>
              <a:spcBef>
                <a:spcPts val="0"/>
              </a:spcBef>
              <a:spcAft>
                <a:spcPts val="0"/>
              </a:spcAft>
              <a:buSzPts val="1300"/>
              <a:buChar char="●"/>
            </a:pPr>
            <a:r>
              <a:rPr b="1" lang="en"/>
              <a:t>Tags</a:t>
            </a:r>
            <a:r>
              <a:rPr lang="en"/>
              <a:t> are defined using attributes, classes, and IDs. You can use these to specify which element you want to manipulate!</a:t>
            </a:r>
            <a:endParaRPr/>
          </a:p>
          <a:p>
            <a:pPr indent="-298450" lvl="1" marL="914400" rtl="0" algn="l">
              <a:lnSpc>
                <a:spcPct val="115000"/>
              </a:lnSpc>
              <a:spcBef>
                <a:spcPts val="0"/>
              </a:spcBef>
              <a:spcAft>
                <a:spcPts val="0"/>
              </a:spcAft>
              <a:buSzPts val="1100"/>
              <a:buChar char="○"/>
            </a:pPr>
            <a:r>
              <a:rPr b="1" lang="en"/>
              <a:t>Attributes</a:t>
            </a:r>
            <a:r>
              <a:rPr lang="en"/>
              <a:t> define properties of elements. </a:t>
            </a:r>
            <a:endParaRPr/>
          </a:p>
          <a:p>
            <a:pPr indent="-298450" lvl="1" marL="914400" rtl="0" algn="l">
              <a:lnSpc>
                <a:spcPct val="115000"/>
              </a:lnSpc>
              <a:spcBef>
                <a:spcPts val="0"/>
              </a:spcBef>
              <a:spcAft>
                <a:spcPts val="0"/>
              </a:spcAft>
              <a:buSzPts val="1100"/>
              <a:buChar char="○"/>
            </a:pPr>
            <a:r>
              <a:rPr b="1" lang="en"/>
              <a:t>Classes</a:t>
            </a:r>
            <a:r>
              <a:rPr lang="en"/>
              <a:t> identify a group of elements that work similarly (a button)</a:t>
            </a:r>
            <a:endParaRPr/>
          </a:p>
          <a:p>
            <a:pPr indent="-298450" lvl="1" marL="914400" rtl="0" algn="l">
              <a:lnSpc>
                <a:spcPct val="115000"/>
              </a:lnSpc>
              <a:spcBef>
                <a:spcPts val="0"/>
              </a:spcBef>
              <a:spcAft>
                <a:spcPts val="0"/>
              </a:spcAft>
              <a:buSzPts val="1100"/>
              <a:buChar char="○"/>
            </a:pPr>
            <a:r>
              <a:rPr b="1" lang="en"/>
              <a:t>IDs</a:t>
            </a:r>
            <a:r>
              <a:rPr lang="en"/>
              <a:t> identify unique features that you can reference and manipulate.</a:t>
            </a:r>
            <a:endParaRPr/>
          </a:p>
        </p:txBody>
      </p:sp>
      <p:sp>
        <p:nvSpPr>
          <p:cNvPr id="207" name="Google Shape;207;p19"/>
          <p:cNvSpPr txBox="1"/>
          <p:nvPr/>
        </p:nvSpPr>
        <p:spPr>
          <a:xfrm>
            <a:off x="4212300" y="4374225"/>
            <a:ext cx="4931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Lato"/>
                <a:ea typeface="Lato"/>
                <a:cs typeface="Lato"/>
                <a:sym typeface="Lato"/>
              </a:rPr>
              <a:t>&lt;div class=”header” id=”main”&gt; … &lt;/div&gt;</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0"/>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Cascading Stylesheets</a:t>
            </a:r>
            <a:endParaRPr/>
          </a:p>
        </p:txBody>
      </p:sp>
      <p:sp>
        <p:nvSpPr>
          <p:cNvPr id="213" name="Google Shape;213;p20"/>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Styling language used to describe look and formatting of html pages.</a:t>
            </a:r>
            <a:endParaRPr/>
          </a:p>
          <a:p>
            <a:pPr indent="-311150" lvl="0" marL="457200" rtl="0" algn="l">
              <a:lnSpc>
                <a:spcPct val="115000"/>
              </a:lnSpc>
              <a:spcBef>
                <a:spcPts val="0"/>
              </a:spcBef>
              <a:spcAft>
                <a:spcPts val="0"/>
              </a:spcAft>
              <a:buSzPts val="1300"/>
              <a:buChar char="●"/>
            </a:pPr>
            <a:r>
              <a:rPr lang="en"/>
              <a:t>Uses the DOM to style elements, with styles ‘cascading’ from higher elements to lower ones (down the tree structure)</a:t>
            </a:r>
            <a:endParaRPr/>
          </a:p>
          <a:p>
            <a:pPr indent="-298450" lvl="1" marL="914400" rtl="0" algn="l">
              <a:lnSpc>
                <a:spcPct val="115000"/>
              </a:lnSpc>
              <a:spcBef>
                <a:spcPts val="0"/>
              </a:spcBef>
              <a:spcAft>
                <a:spcPts val="0"/>
              </a:spcAft>
              <a:buSzPts val="1100"/>
              <a:buChar char="○"/>
            </a:pPr>
            <a:r>
              <a:rPr lang="en"/>
              <a:t>Nested elements will be styled the same as higher elements… unless you specify otherwise.</a:t>
            </a:r>
            <a:endParaRPr/>
          </a:p>
        </p:txBody>
      </p:sp>
      <p:sp>
        <p:nvSpPr>
          <p:cNvPr id="214" name="Google Shape;214;p20"/>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Generic format is:</a:t>
            </a:r>
            <a:endParaRPr/>
          </a:p>
          <a:p>
            <a:pPr indent="0" lvl="0" marL="457200" rtl="0" algn="l">
              <a:lnSpc>
                <a:spcPct val="115000"/>
              </a:lnSpc>
              <a:spcBef>
                <a:spcPts val="1200"/>
              </a:spcBef>
              <a:spcAft>
                <a:spcPts val="0"/>
              </a:spcAft>
              <a:buSzPts val="1300"/>
              <a:buNone/>
            </a:pPr>
            <a:r>
              <a:t/>
            </a:r>
            <a:endParaRPr/>
          </a:p>
          <a:p>
            <a:pPr indent="0" lvl="0" marL="457200" rtl="0" algn="l">
              <a:lnSpc>
                <a:spcPct val="115000"/>
              </a:lnSpc>
              <a:spcBef>
                <a:spcPts val="1200"/>
              </a:spcBef>
              <a:spcAft>
                <a:spcPts val="0"/>
              </a:spcAft>
              <a:buSzPts val="1300"/>
              <a:buNone/>
            </a:pPr>
            <a:r>
              <a:rPr lang="en"/>
              <a:t>[selector]{</a:t>
            </a:r>
            <a:endParaRPr/>
          </a:p>
          <a:p>
            <a:pPr indent="0" lvl="0" marL="457200" rtl="0" algn="l">
              <a:lnSpc>
                <a:spcPct val="115000"/>
              </a:lnSpc>
              <a:spcBef>
                <a:spcPts val="1200"/>
              </a:spcBef>
              <a:spcAft>
                <a:spcPts val="0"/>
              </a:spcAft>
              <a:buSzPts val="1300"/>
              <a:buNone/>
            </a:pPr>
            <a:r>
              <a:rPr lang="en"/>
              <a:t>		[property] : [value];</a:t>
            </a:r>
            <a:endParaRPr/>
          </a:p>
          <a:p>
            <a:pPr indent="0" lvl="0" marL="457200" rtl="0" algn="l">
              <a:lnSpc>
                <a:spcPct val="115000"/>
              </a:lnSpc>
              <a:spcBef>
                <a:spcPts val="1200"/>
              </a:spcBef>
              <a:spcAft>
                <a:spcPts val="1200"/>
              </a:spcAft>
              <a:buSzPts val="1300"/>
              <a:buNone/>
            </a:pPr>
            <a:r>
              <a:rPr lang="en"/>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1"/>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Cascading Stylesheets</a:t>
            </a:r>
            <a:endParaRPr/>
          </a:p>
        </p:txBody>
      </p:sp>
      <p:sp>
        <p:nvSpPr>
          <p:cNvPr id="220" name="Google Shape;220;p21"/>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CSS can be done in-line, but it’s usually (better) to keep it in its own file.</a:t>
            </a:r>
            <a:endParaRPr/>
          </a:p>
          <a:p>
            <a:pPr indent="-311150" lvl="0" marL="457200" rtl="0" algn="l">
              <a:lnSpc>
                <a:spcPct val="115000"/>
              </a:lnSpc>
              <a:spcBef>
                <a:spcPts val="0"/>
              </a:spcBef>
              <a:spcAft>
                <a:spcPts val="0"/>
              </a:spcAft>
              <a:buSzPts val="1300"/>
              <a:buChar char="●"/>
            </a:pPr>
            <a:r>
              <a:rPr lang="en"/>
              <a:t>It’s a </a:t>
            </a:r>
            <a:r>
              <a:rPr b="1" lang="en"/>
              <a:t>syntax</a:t>
            </a:r>
            <a:r>
              <a:rPr lang="en"/>
              <a:t> for defining how </a:t>
            </a:r>
            <a:r>
              <a:rPr b="1" lang="en"/>
              <a:t>elements</a:t>
            </a:r>
            <a:r>
              <a:rPr lang="en"/>
              <a:t> should be styled.</a:t>
            </a:r>
            <a:endParaRPr/>
          </a:p>
          <a:p>
            <a:pPr indent="-298450" lvl="1" marL="914400" rtl="0" algn="l">
              <a:lnSpc>
                <a:spcPct val="115000"/>
              </a:lnSpc>
              <a:spcBef>
                <a:spcPts val="0"/>
              </a:spcBef>
              <a:spcAft>
                <a:spcPts val="0"/>
              </a:spcAft>
              <a:buSzPts val="1100"/>
              <a:buChar char="○"/>
            </a:pPr>
            <a:r>
              <a:rPr lang="en"/>
              <a:t>Selector - the beginning of the ruleset, it defines which element is being styled.</a:t>
            </a:r>
            <a:endParaRPr/>
          </a:p>
          <a:p>
            <a:pPr indent="-298450" lvl="1" marL="914400" rtl="0" algn="l">
              <a:lnSpc>
                <a:spcPct val="115000"/>
              </a:lnSpc>
              <a:spcBef>
                <a:spcPts val="0"/>
              </a:spcBef>
              <a:spcAft>
                <a:spcPts val="0"/>
              </a:spcAft>
              <a:buSzPts val="1100"/>
              <a:buChar char="○"/>
            </a:pPr>
            <a:r>
              <a:rPr lang="en"/>
              <a:t>Property - what characteristic is being styled </a:t>
            </a:r>
            <a:endParaRPr/>
          </a:p>
          <a:p>
            <a:pPr indent="-298450" lvl="1" marL="914400" rtl="0" algn="l">
              <a:lnSpc>
                <a:spcPct val="115000"/>
              </a:lnSpc>
              <a:spcBef>
                <a:spcPts val="0"/>
              </a:spcBef>
              <a:spcAft>
                <a:spcPts val="0"/>
              </a:spcAft>
              <a:buSzPts val="1100"/>
              <a:buChar char="○"/>
            </a:pPr>
            <a:r>
              <a:rPr lang="en"/>
              <a:t>Value - how it’s being styled</a:t>
            </a:r>
            <a:endParaRPr/>
          </a:p>
        </p:txBody>
      </p:sp>
      <p:sp>
        <p:nvSpPr>
          <p:cNvPr id="221" name="Google Shape;221;p21"/>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p {color:red; font-size:20px;}</a:t>
            </a:r>
            <a:endParaRPr/>
          </a:p>
          <a:p>
            <a:pPr indent="0" lvl="0" marL="457200" rtl="0" algn="l">
              <a:lnSpc>
                <a:spcPct val="115000"/>
              </a:lnSpc>
              <a:spcBef>
                <a:spcPts val="1200"/>
              </a:spcBef>
              <a:spcAft>
                <a:spcPts val="1200"/>
              </a:spcAft>
              <a:buSzPts val="1300"/>
              <a:buNone/>
            </a:pPr>
            <a:r>
              <a:rPr lang="en"/>
              <a:t>That would set all of the &lt;p&gt; elements to red text at 20px font size.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id="226" name="Google Shape;226;p22"/>
          <p:cNvPicPr preferRelativeResize="0"/>
          <p:nvPr/>
        </p:nvPicPr>
        <p:blipFill rotWithShape="1">
          <a:blip r:embed="rId3">
            <a:alphaModFix/>
          </a:blip>
          <a:srcRect b="0" l="0" r="0" t="0"/>
          <a:stretch/>
        </p:blipFill>
        <p:spPr>
          <a:xfrm>
            <a:off x="1369750" y="0"/>
            <a:ext cx="6404489" cy="51435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3"/>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Cascading Stylesheets</a:t>
            </a:r>
            <a:endParaRPr/>
          </a:p>
          <a:p>
            <a:pPr indent="0" lvl="0" marL="0" rtl="0" algn="l">
              <a:lnSpc>
                <a:spcPct val="100000"/>
              </a:lnSpc>
              <a:spcBef>
                <a:spcPts val="0"/>
              </a:spcBef>
              <a:spcAft>
                <a:spcPts val="0"/>
              </a:spcAft>
              <a:buSzPct val="111111"/>
              <a:buNone/>
            </a:pPr>
            <a:r>
              <a:t/>
            </a:r>
            <a:endParaRPr/>
          </a:p>
        </p:txBody>
      </p:sp>
      <p:sp>
        <p:nvSpPr>
          <p:cNvPr id="232" name="Google Shape;232;p23"/>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Selectors are page elements and can be tags, ids, titles, classes, and so on.</a:t>
            </a:r>
            <a:endParaRPr/>
          </a:p>
          <a:p>
            <a:pPr indent="-311150" lvl="0" marL="457200" rtl="0" algn="l">
              <a:lnSpc>
                <a:spcPct val="115000"/>
              </a:lnSpc>
              <a:spcBef>
                <a:spcPts val="0"/>
              </a:spcBef>
              <a:spcAft>
                <a:spcPts val="0"/>
              </a:spcAft>
              <a:buSzPts val="1300"/>
              <a:buChar char="●"/>
            </a:pPr>
            <a:r>
              <a:rPr lang="en"/>
              <a:t>Element:</a:t>
            </a:r>
            <a:endParaRPr/>
          </a:p>
          <a:p>
            <a:pPr indent="-298450" lvl="1" marL="914400" rtl="0" algn="l">
              <a:lnSpc>
                <a:spcPct val="115000"/>
              </a:lnSpc>
              <a:spcBef>
                <a:spcPts val="0"/>
              </a:spcBef>
              <a:spcAft>
                <a:spcPts val="0"/>
              </a:spcAft>
              <a:buSzPts val="1100"/>
              <a:buChar char="○"/>
            </a:pPr>
            <a:r>
              <a:rPr lang="en"/>
              <a:t>p{ font-size: 12;}</a:t>
            </a:r>
            <a:endParaRPr/>
          </a:p>
          <a:p>
            <a:pPr indent="-311150" lvl="0" marL="457200" rtl="0" algn="l">
              <a:lnSpc>
                <a:spcPct val="115000"/>
              </a:lnSpc>
              <a:spcBef>
                <a:spcPts val="0"/>
              </a:spcBef>
              <a:spcAft>
                <a:spcPts val="0"/>
              </a:spcAft>
              <a:buSzPts val="1300"/>
              <a:buChar char="●"/>
            </a:pPr>
            <a:r>
              <a:rPr lang="en"/>
              <a:t>Class:</a:t>
            </a:r>
            <a:endParaRPr/>
          </a:p>
          <a:p>
            <a:pPr indent="-298450" lvl="1" marL="914400" rtl="0" algn="l">
              <a:lnSpc>
                <a:spcPct val="115000"/>
              </a:lnSpc>
              <a:spcBef>
                <a:spcPts val="0"/>
              </a:spcBef>
              <a:spcAft>
                <a:spcPts val="0"/>
              </a:spcAft>
              <a:buSzPts val="1100"/>
              <a:buChar char="○"/>
            </a:pPr>
            <a:r>
              <a:rPr lang="en"/>
              <a:t>.main{font-size:12;}</a:t>
            </a:r>
            <a:endParaRPr/>
          </a:p>
          <a:p>
            <a:pPr indent="-311150" lvl="0" marL="457200" rtl="0" algn="l">
              <a:lnSpc>
                <a:spcPct val="115000"/>
              </a:lnSpc>
              <a:spcBef>
                <a:spcPts val="0"/>
              </a:spcBef>
              <a:spcAft>
                <a:spcPts val="0"/>
              </a:spcAft>
              <a:buSzPts val="1300"/>
              <a:buChar char="●"/>
            </a:pPr>
            <a:r>
              <a:rPr lang="en"/>
              <a:t>ID:</a:t>
            </a:r>
            <a:endParaRPr/>
          </a:p>
          <a:p>
            <a:pPr indent="-298450" lvl="1" marL="914400" rtl="0" algn="l">
              <a:lnSpc>
                <a:spcPct val="115000"/>
              </a:lnSpc>
              <a:spcBef>
                <a:spcPts val="0"/>
              </a:spcBef>
              <a:spcAft>
                <a:spcPts val="0"/>
              </a:spcAft>
              <a:buSzPts val="1100"/>
              <a:buChar char="○"/>
            </a:pPr>
            <a:r>
              <a:rPr lang="en"/>
              <a:t>#stuff{font-size:12;}</a:t>
            </a:r>
            <a:endParaRPr/>
          </a:p>
        </p:txBody>
      </p:sp>
      <p:sp>
        <p:nvSpPr>
          <p:cNvPr id="233" name="Google Shape;233;p23"/>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CSS defined last in a document will supercede CSS set earlier.</a:t>
            </a:r>
            <a:endParaRPr/>
          </a:p>
          <a:p>
            <a:pPr indent="-311150" lvl="0" marL="457200" rtl="0" algn="l">
              <a:lnSpc>
                <a:spcPct val="115000"/>
              </a:lnSpc>
              <a:spcBef>
                <a:spcPts val="0"/>
              </a:spcBef>
              <a:spcAft>
                <a:spcPts val="0"/>
              </a:spcAft>
              <a:buSzPts val="1300"/>
              <a:buChar char="●"/>
            </a:pPr>
            <a:r>
              <a:rPr b="1" lang="en"/>
              <a:t>The more specific selector will override the less specific one</a:t>
            </a:r>
            <a:endParaRPr b="1"/>
          </a:p>
          <a:p>
            <a:pPr indent="-298450" lvl="1" marL="914400" rtl="0" algn="l">
              <a:lnSpc>
                <a:spcPct val="115000"/>
              </a:lnSpc>
              <a:spcBef>
                <a:spcPts val="0"/>
              </a:spcBef>
              <a:spcAft>
                <a:spcPts val="0"/>
              </a:spcAft>
              <a:buSzPts val="1100"/>
              <a:buChar char="○"/>
            </a:pPr>
            <a:r>
              <a:rPr lang="en"/>
              <a:t>A style set on all paragraphs will be overridden by one set on a specific ID for one paragraph.</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4"/>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Cascading Stylesheets … sheets.</a:t>
            </a:r>
            <a:endParaRPr/>
          </a:p>
          <a:p>
            <a:pPr indent="0" lvl="0" marL="0" rtl="0" algn="l">
              <a:lnSpc>
                <a:spcPct val="100000"/>
              </a:lnSpc>
              <a:spcBef>
                <a:spcPts val="0"/>
              </a:spcBef>
              <a:spcAft>
                <a:spcPts val="0"/>
              </a:spcAft>
              <a:buSzPct val="111111"/>
              <a:buNone/>
            </a:pPr>
            <a:r>
              <a:t/>
            </a:r>
            <a:endParaRPr/>
          </a:p>
        </p:txBody>
      </p:sp>
      <p:sp>
        <p:nvSpPr>
          <p:cNvPr id="239" name="Google Shape;239;p24"/>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u="sng">
                <a:solidFill>
                  <a:schemeClr val="hlink"/>
                </a:solidFill>
                <a:hlinkClick r:id="rId3"/>
              </a:rPr>
              <a:t>The Mozilla Reference Sheet</a:t>
            </a:r>
            <a:endParaRPr/>
          </a:p>
        </p:txBody>
      </p:sp>
      <p:sp>
        <p:nvSpPr>
          <p:cNvPr id="240" name="Google Shape;240;p24"/>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u="sng">
                <a:solidFill>
                  <a:schemeClr val="hlink"/>
                </a:solidFill>
                <a:hlinkClick r:id="rId4"/>
              </a:rPr>
              <a:t>The W3Schools reference sheet.</a:t>
            </a:r>
            <a:endParaRPr/>
          </a:p>
        </p:txBody>
      </p:sp>
      <p:sp>
        <p:nvSpPr>
          <p:cNvPr id="241" name="Google Shape;241;p24"/>
          <p:cNvSpPr txBox="1"/>
          <p:nvPr/>
        </p:nvSpPr>
        <p:spPr>
          <a:xfrm>
            <a:off x="2107800" y="3009325"/>
            <a:ext cx="4931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sng" cap="none" strike="noStrike">
                <a:solidFill>
                  <a:schemeClr val="hlink"/>
                </a:solidFill>
                <a:latin typeface="Lato"/>
                <a:ea typeface="Lato"/>
                <a:cs typeface="Lato"/>
                <a:sym typeface="Lato"/>
                <a:hlinkClick r:id="rId5"/>
              </a:rPr>
              <a:t>And the text used by a previous iteration of this course!</a:t>
            </a:r>
            <a:endParaRPr b="0" i="0" sz="1400" u="none" cap="none" strike="noStrike">
              <a:solidFill>
                <a:srgbClr val="000000"/>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5"/>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600"/>
              <a:buNone/>
            </a:pPr>
            <a:r>
              <a:rPr lang="en"/>
              <a:t>That’s an absolute ton of… stuff.</a:t>
            </a:r>
            <a:endParaRPr/>
          </a:p>
          <a:p>
            <a:pPr indent="0" lvl="0" marL="0" rtl="0" algn="l">
              <a:lnSpc>
                <a:spcPct val="100000"/>
              </a:lnSpc>
              <a:spcBef>
                <a:spcPts val="0"/>
              </a:spcBef>
              <a:spcAft>
                <a:spcPts val="0"/>
              </a:spcAft>
              <a:buSzPts val="3600"/>
              <a:buNone/>
            </a:pPr>
            <a:r>
              <a:t/>
            </a:r>
            <a:endParaRPr/>
          </a:p>
          <a:p>
            <a:pPr indent="0" lvl="0" marL="0" rtl="0" algn="l">
              <a:lnSpc>
                <a:spcPct val="100000"/>
              </a:lnSpc>
              <a:spcBef>
                <a:spcPts val="0"/>
              </a:spcBef>
              <a:spcAft>
                <a:spcPts val="0"/>
              </a:spcAft>
              <a:buSzPts val="3600"/>
              <a:buNone/>
            </a:pPr>
            <a:r>
              <a:rPr lang="en" sz="1800"/>
              <a:t>Let’s work through it using our ‘first’ web page.</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Goals</a:t>
            </a:r>
            <a:endParaRPr/>
          </a:p>
        </p:txBody>
      </p:sp>
      <p:sp>
        <p:nvSpPr>
          <p:cNvPr id="252" name="Google Shape;252;p26"/>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Create a stylesheet for your website and reference it</a:t>
            </a:r>
            <a:endParaRPr/>
          </a:p>
          <a:p>
            <a:pPr indent="-311150" lvl="0" marL="457200" rtl="0" algn="l">
              <a:lnSpc>
                <a:spcPct val="115000"/>
              </a:lnSpc>
              <a:spcBef>
                <a:spcPts val="0"/>
              </a:spcBef>
              <a:spcAft>
                <a:spcPts val="0"/>
              </a:spcAft>
              <a:buSzPts val="1300"/>
              <a:buChar char="●"/>
            </a:pPr>
            <a:r>
              <a:rPr lang="en"/>
              <a:t>Add multiple elements to the web page</a:t>
            </a:r>
            <a:endParaRPr/>
          </a:p>
          <a:p>
            <a:pPr indent="-298450" lvl="1" marL="914400" rtl="0" algn="l">
              <a:lnSpc>
                <a:spcPct val="115000"/>
              </a:lnSpc>
              <a:spcBef>
                <a:spcPts val="0"/>
              </a:spcBef>
              <a:spcAft>
                <a:spcPts val="0"/>
              </a:spcAft>
              <a:buSzPts val="1100"/>
              <a:buChar char="○"/>
            </a:pPr>
            <a:r>
              <a:rPr lang="en"/>
              <a:t>At least two text elements</a:t>
            </a:r>
            <a:endParaRPr/>
          </a:p>
          <a:p>
            <a:pPr indent="-298450" lvl="1" marL="914400" rtl="0" algn="l">
              <a:lnSpc>
                <a:spcPct val="115000"/>
              </a:lnSpc>
              <a:spcBef>
                <a:spcPts val="0"/>
              </a:spcBef>
              <a:spcAft>
                <a:spcPts val="0"/>
              </a:spcAft>
              <a:buSzPts val="1100"/>
              <a:buChar char="○"/>
            </a:pPr>
            <a:r>
              <a:rPr lang="en"/>
              <a:t>At least one image</a:t>
            </a:r>
            <a:endParaRPr/>
          </a:p>
          <a:p>
            <a:pPr indent="-298450" lvl="1" marL="914400" rtl="0" algn="l">
              <a:lnSpc>
                <a:spcPct val="115000"/>
              </a:lnSpc>
              <a:spcBef>
                <a:spcPts val="0"/>
              </a:spcBef>
              <a:spcAft>
                <a:spcPts val="0"/>
              </a:spcAft>
              <a:buSzPts val="1100"/>
              <a:buChar char="○"/>
            </a:pPr>
            <a:r>
              <a:rPr lang="en"/>
              <a:t>At least one link (this could be a text or image element)</a:t>
            </a:r>
            <a:endParaRPr/>
          </a:p>
          <a:p>
            <a:pPr indent="-311150" lvl="0" marL="457200" rtl="0" algn="l">
              <a:lnSpc>
                <a:spcPct val="115000"/>
              </a:lnSpc>
              <a:spcBef>
                <a:spcPts val="0"/>
              </a:spcBef>
              <a:spcAft>
                <a:spcPts val="0"/>
              </a:spcAft>
              <a:buSzPts val="1300"/>
              <a:buChar char="●"/>
            </a:pPr>
            <a:r>
              <a:rPr lang="en"/>
              <a:t>Use Visual Studio Code’s LiveServer extension to make sure it works and then push it to github</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Step 1 - Housekeeping</a:t>
            </a:r>
            <a:endParaRPr/>
          </a:p>
        </p:txBody>
      </p:sp>
      <p:sp>
        <p:nvSpPr>
          <p:cNvPr id="258" name="Google Shape;258;p27"/>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Either create a new repository and clone it down or use the one you used on Monday.</a:t>
            </a:r>
            <a:endParaRPr/>
          </a:p>
          <a:p>
            <a:pPr indent="-298450" lvl="1" marL="914400" rtl="0" algn="l">
              <a:lnSpc>
                <a:spcPct val="115000"/>
              </a:lnSpc>
              <a:spcBef>
                <a:spcPts val="0"/>
              </a:spcBef>
              <a:spcAft>
                <a:spcPts val="0"/>
              </a:spcAft>
              <a:buSzPts val="1100"/>
              <a:buChar char="○"/>
            </a:pPr>
            <a:r>
              <a:rPr lang="en"/>
              <a:t>Review the previous slides for reference!</a:t>
            </a:r>
            <a:endParaRPr/>
          </a:p>
          <a:p>
            <a:pPr indent="-298450" lvl="1" marL="914400" rtl="0" algn="l">
              <a:lnSpc>
                <a:spcPct val="115000"/>
              </a:lnSpc>
              <a:spcBef>
                <a:spcPts val="0"/>
              </a:spcBef>
              <a:spcAft>
                <a:spcPts val="0"/>
              </a:spcAft>
              <a:buSzPts val="1100"/>
              <a:buChar char="○"/>
            </a:pPr>
            <a:r>
              <a:rPr lang="en"/>
              <a:t>If the directory has already been initialized, great, otherwise….</a:t>
            </a:r>
            <a:endParaRPr/>
          </a:p>
          <a:p>
            <a:pPr indent="-298450" lvl="1" marL="914400" rtl="0" algn="l">
              <a:lnSpc>
                <a:spcPct val="115000"/>
              </a:lnSpc>
              <a:spcBef>
                <a:spcPts val="0"/>
              </a:spcBef>
              <a:spcAft>
                <a:spcPts val="0"/>
              </a:spcAft>
              <a:buSzPts val="1100"/>
              <a:buChar char="○"/>
            </a:pPr>
            <a:r>
              <a:rPr lang="en"/>
              <a:t>This is a good reminder that tasks </a:t>
            </a:r>
            <a:r>
              <a:rPr b="1" lang="en"/>
              <a:t>build</a:t>
            </a:r>
            <a:r>
              <a:rPr lang="en"/>
              <a:t> in this class</a:t>
            </a:r>
            <a:endParaRPr/>
          </a:p>
          <a:p>
            <a:pPr indent="-311150" lvl="0" marL="457200" rtl="0" algn="l">
              <a:lnSpc>
                <a:spcPct val="115000"/>
              </a:lnSpc>
              <a:spcBef>
                <a:spcPts val="0"/>
              </a:spcBef>
              <a:spcAft>
                <a:spcPts val="0"/>
              </a:spcAft>
              <a:buSzPts val="1300"/>
              <a:buChar char="●"/>
            </a:pPr>
            <a:r>
              <a:rPr lang="en"/>
              <a:t>Create a new subdirectory called css</a:t>
            </a:r>
            <a:endParaRPr/>
          </a:p>
          <a:p>
            <a:pPr indent="-298450" lvl="1" marL="914400" rtl="0" algn="l">
              <a:lnSpc>
                <a:spcPct val="115000"/>
              </a:lnSpc>
              <a:spcBef>
                <a:spcPts val="0"/>
              </a:spcBef>
              <a:spcAft>
                <a:spcPts val="0"/>
              </a:spcAft>
              <a:buSzPts val="1100"/>
              <a:buChar char="○"/>
            </a:pPr>
            <a:r>
              <a:rPr lang="en"/>
              <a:t>Create an empty text file in there called style.css or main.css or… </a:t>
            </a:r>
            <a:endParaRPr/>
          </a:p>
          <a:p>
            <a:pPr indent="-298450" lvl="1" marL="914400" rtl="0" algn="l">
              <a:lnSpc>
                <a:spcPct val="115000"/>
              </a:lnSpc>
              <a:spcBef>
                <a:spcPts val="0"/>
              </a:spcBef>
              <a:spcAft>
                <a:spcPts val="0"/>
              </a:spcAft>
              <a:buSzPts val="1100"/>
              <a:buChar char="○"/>
            </a:pPr>
            <a:r>
              <a:rPr lang="en"/>
              <a:t>You could also create the other subdirectories we’ll end up using (js, img, etc.) or not!</a:t>
            </a:r>
            <a:endParaRPr/>
          </a:p>
          <a:p>
            <a:pPr indent="-311150" lvl="0" marL="457200" rtl="0" algn="l">
              <a:lnSpc>
                <a:spcPct val="115000"/>
              </a:lnSpc>
              <a:spcBef>
                <a:spcPts val="0"/>
              </a:spcBef>
              <a:spcAft>
                <a:spcPts val="0"/>
              </a:spcAft>
              <a:buSzPts val="1300"/>
              <a:buChar char="●"/>
            </a:pPr>
            <a:r>
              <a:rPr lang="en"/>
              <a:t>Load up Visual Studio Code, browse to where your file is stored, and start editing…</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Step 2 - HTMLing</a:t>
            </a:r>
            <a:endParaRPr/>
          </a:p>
        </p:txBody>
      </p:sp>
      <p:sp>
        <p:nvSpPr>
          <p:cNvPr id="264" name="Google Shape;264;p2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Create a &lt;head&gt; … &lt;/head&gt; element.</a:t>
            </a:r>
            <a:endParaRPr/>
          </a:p>
          <a:p>
            <a:pPr indent="-298450" lvl="1" marL="914400" rtl="0" algn="l">
              <a:lnSpc>
                <a:spcPct val="115000"/>
              </a:lnSpc>
              <a:spcBef>
                <a:spcPts val="0"/>
              </a:spcBef>
              <a:spcAft>
                <a:spcPts val="0"/>
              </a:spcAft>
              <a:buSzPts val="1100"/>
              <a:buChar char="○"/>
            </a:pPr>
            <a:r>
              <a:rPr lang="en"/>
              <a:t>In it, put a reference to the .css file you created. Mine is called “stylish.css” so it looks like this:</a:t>
            </a:r>
            <a:endParaRPr/>
          </a:p>
          <a:p>
            <a:pPr indent="0" lvl="0" marL="914400" rtl="0" algn="l">
              <a:lnSpc>
                <a:spcPct val="115000"/>
              </a:lnSpc>
              <a:spcBef>
                <a:spcPts val="1200"/>
              </a:spcBef>
              <a:spcAft>
                <a:spcPts val="1200"/>
              </a:spcAft>
              <a:buSzPts val="1300"/>
              <a:buNone/>
            </a:pPr>
            <a:r>
              <a:t/>
            </a:r>
            <a:endParaRPr/>
          </a:p>
        </p:txBody>
      </p:sp>
      <p:pic>
        <p:nvPicPr>
          <p:cNvPr id="265" name="Google Shape;265;p28"/>
          <p:cNvPicPr preferRelativeResize="0"/>
          <p:nvPr/>
        </p:nvPicPr>
        <p:blipFill rotWithShape="1">
          <a:blip r:embed="rId3">
            <a:alphaModFix/>
          </a:blip>
          <a:srcRect b="0" l="0" r="0" t="0"/>
          <a:stretch/>
        </p:blipFill>
        <p:spPr>
          <a:xfrm>
            <a:off x="1316763" y="2792263"/>
            <a:ext cx="5876925" cy="18192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Step 2 - HTMLing</a:t>
            </a:r>
            <a:endParaRPr/>
          </a:p>
        </p:txBody>
      </p:sp>
      <p:sp>
        <p:nvSpPr>
          <p:cNvPr id="271" name="Google Shape;271;p29"/>
          <p:cNvSpPr txBox="1"/>
          <p:nvPr>
            <p:ph idx="1" type="body"/>
          </p:nvPr>
        </p:nvSpPr>
        <p:spPr>
          <a:xfrm>
            <a:off x="729450" y="2078875"/>
            <a:ext cx="7688700" cy="28842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We now need to add some new elements… how about a couple of </a:t>
            </a:r>
            <a:r>
              <a:rPr b="1" lang="en"/>
              <a:t>paragraphs</a:t>
            </a:r>
            <a:r>
              <a:rPr lang="en"/>
              <a:t>?</a:t>
            </a:r>
            <a:endParaRPr/>
          </a:p>
          <a:p>
            <a:pPr indent="-298450" lvl="1" marL="914400" rtl="0" algn="l">
              <a:lnSpc>
                <a:spcPct val="115000"/>
              </a:lnSpc>
              <a:spcBef>
                <a:spcPts val="0"/>
              </a:spcBef>
              <a:spcAft>
                <a:spcPts val="0"/>
              </a:spcAft>
              <a:buSzPts val="1100"/>
              <a:buChar char="○"/>
            </a:pPr>
            <a:r>
              <a:rPr lang="en"/>
              <a:t>You don’t need to use &lt;p&gt; … look at other tags, be creative.</a:t>
            </a:r>
            <a:endParaRPr/>
          </a:p>
          <a:p>
            <a:pPr indent="-311150" lvl="0" marL="457200" rtl="0" algn="l">
              <a:lnSpc>
                <a:spcPct val="115000"/>
              </a:lnSpc>
              <a:spcBef>
                <a:spcPts val="0"/>
              </a:spcBef>
              <a:spcAft>
                <a:spcPts val="0"/>
              </a:spcAft>
              <a:buSzPts val="1300"/>
              <a:buChar char="●"/>
            </a:pPr>
            <a:r>
              <a:rPr lang="en"/>
              <a:t>We also need at least one image and a link.</a:t>
            </a:r>
            <a:endParaRPr/>
          </a:p>
          <a:p>
            <a:pPr indent="-298450" lvl="1" marL="914400" rtl="0" algn="l">
              <a:lnSpc>
                <a:spcPct val="115000"/>
              </a:lnSpc>
              <a:spcBef>
                <a:spcPts val="0"/>
              </a:spcBef>
              <a:spcAft>
                <a:spcPts val="0"/>
              </a:spcAft>
              <a:buSzPts val="1100"/>
              <a:buChar char="○"/>
            </a:pPr>
            <a:r>
              <a:rPr lang="en"/>
              <a:t>I’m going to let you all review the slides, review the links, and try to come up with these on your own.</a:t>
            </a:r>
            <a:endParaRPr/>
          </a:p>
          <a:p>
            <a:pPr indent="-298450" lvl="1" marL="914400" rtl="0" algn="l">
              <a:lnSpc>
                <a:spcPct val="115000"/>
              </a:lnSpc>
              <a:spcBef>
                <a:spcPts val="0"/>
              </a:spcBef>
              <a:spcAft>
                <a:spcPts val="0"/>
              </a:spcAft>
              <a:buSzPts val="1100"/>
              <a:buChar char="○"/>
            </a:pPr>
            <a:r>
              <a:rPr b="1" lang="en"/>
              <a:t>Talk to each other!</a:t>
            </a:r>
            <a:endParaRPr b="1"/>
          </a:p>
          <a:p>
            <a:pPr indent="-298450" lvl="1" marL="914400" rtl="0" algn="l">
              <a:lnSpc>
                <a:spcPct val="115000"/>
              </a:lnSpc>
              <a:spcBef>
                <a:spcPts val="0"/>
              </a:spcBef>
              <a:spcAft>
                <a:spcPts val="0"/>
              </a:spcAft>
              <a:buSzPts val="1100"/>
              <a:buChar char="○"/>
            </a:pPr>
            <a:r>
              <a:rPr b="1" lang="en"/>
              <a:t>I’ll also be walking around to help</a:t>
            </a:r>
            <a:r>
              <a:rPr lang="en"/>
              <a:t>.</a:t>
            </a:r>
            <a:br>
              <a:rPr lang="en"/>
            </a:br>
            <a:endParaRPr/>
          </a:p>
          <a:p>
            <a:pPr indent="-311150" lvl="0" marL="457200" rtl="0" algn="l">
              <a:lnSpc>
                <a:spcPct val="115000"/>
              </a:lnSpc>
              <a:spcBef>
                <a:spcPts val="0"/>
              </a:spcBef>
              <a:spcAft>
                <a:spcPts val="0"/>
              </a:spcAft>
              <a:buSzPts val="1300"/>
              <a:buChar char="●"/>
            </a:pPr>
            <a:r>
              <a:rPr b="1" lang="en"/>
              <a:t>Tip:</a:t>
            </a:r>
            <a:r>
              <a:rPr lang="en"/>
              <a:t> You can reference local images or source them from anywhere on the internet (though, obviously, other sites will sometimes block this)</a:t>
            </a:r>
            <a:endParaRPr/>
          </a:p>
          <a:p>
            <a:pPr indent="-298450" lvl="1" marL="1371600" rtl="0" algn="l">
              <a:lnSpc>
                <a:spcPct val="115000"/>
              </a:lnSpc>
              <a:spcBef>
                <a:spcPts val="0"/>
              </a:spcBef>
              <a:spcAft>
                <a:spcPts val="0"/>
              </a:spcAft>
              <a:buSzPts val="1100"/>
              <a:buChar char="○"/>
            </a:pPr>
            <a:r>
              <a:rPr b="1" lang="en"/>
              <a:t>Locally</a:t>
            </a:r>
            <a:r>
              <a:rPr lang="en"/>
              <a:t>: &lt;img src=”img/mykids.jpg”/&gt;</a:t>
            </a:r>
            <a:endParaRPr/>
          </a:p>
          <a:p>
            <a:pPr indent="-298450" lvl="1" marL="1371600" rtl="0" algn="l">
              <a:lnSpc>
                <a:spcPct val="115000"/>
              </a:lnSpc>
              <a:spcBef>
                <a:spcPts val="0"/>
              </a:spcBef>
              <a:spcAft>
                <a:spcPts val="0"/>
              </a:spcAft>
              <a:buSzPts val="1100"/>
              <a:buChar char="○"/>
            </a:pPr>
            <a:r>
              <a:rPr b="1" lang="en"/>
              <a:t>Elsewhere:</a:t>
            </a:r>
            <a:r>
              <a:rPr lang="en"/>
              <a:t> &lt;img src=”https://upload.wikimedia.org/wikipedia/commons/thumb/e/e6/Oregon_State_University_clock_tower.jpg/1280px-Oregon_State_University_clock_tower.jpg”/&gt;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Step 3 - CSSing</a:t>
            </a:r>
            <a:endParaRPr/>
          </a:p>
        </p:txBody>
      </p:sp>
      <p:sp>
        <p:nvSpPr>
          <p:cNvPr id="277" name="Google Shape;277;p30"/>
          <p:cNvSpPr txBox="1"/>
          <p:nvPr>
            <p:ph idx="1" type="body"/>
          </p:nvPr>
        </p:nvSpPr>
        <p:spPr>
          <a:xfrm>
            <a:off x="729450" y="2078875"/>
            <a:ext cx="7688700" cy="28842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You’ve added elements and potentially even given them IDs.</a:t>
            </a:r>
            <a:endParaRPr/>
          </a:p>
          <a:p>
            <a:pPr indent="-311150" lvl="0" marL="457200" rtl="0" algn="l">
              <a:lnSpc>
                <a:spcPct val="115000"/>
              </a:lnSpc>
              <a:spcBef>
                <a:spcPts val="0"/>
              </a:spcBef>
              <a:spcAft>
                <a:spcPts val="0"/>
              </a:spcAft>
              <a:buSzPts val="1300"/>
              <a:buChar char="●"/>
            </a:pPr>
            <a:r>
              <a:rPr lang="en"/>
              <a:t>Now you need to open up your CSS file and style them.</a:t>
            </a:r>
            <a:endParaRPr/>
          </a:p>
          <a:p>
            <a:pPr indent="-298450" lvl="1" marL="800100" rtl="0" algn="l">
              <a:lnSpc>
                <a:spcPct val="115000"/>
              </a:lnSpc>
              <a:spcBef>
                <a:spcPts val="0"/>
              </a:spcBef>
              <a:spcAft>
                <a:spcPts val="0"/>
              </a:spcAft>
              <a:buSzPts val="1100"/>
              <a:buChar char="○"/>
            </a:pPr>
            <a:r>
              <a:rPr lang="en"/>
              <a:t>Play around with different ways of doing this. Check out the reference links earlier.</a:t>
            </a:r>
            <a:endParaRPr/>
          </a:p>
          <a:p>
            <a:pPr indent="-298450" lvl="1" marL="800100" rtl="0" algn="l">
              <a:lnSpc>
                <a:spcPct val="115000"/>
              </a:lnSpc>
              <a:spcBef>
                <a:spcPts val="0"/>
              </a:spcBef>
              <a:spcAft>
                <a:spcPts val="0"/>
              </a:spcAft>
              <a:buSzPts val="1100"/>
              <a:buChar char="○"/>
            </a:pPr>
            <a:r>
              <a:rPr lang="en"/>
              <a:t>Have fun. Be creative.</a:t>
            </a:r>
            <a:endParaRPr/>
          </a:p>
          <a:p>
            <a:pPr indent="-311150" lvl="0" marL="457200" rtl="0" algn="l">
              <a:lnSpc>
                <a:spcPct val="115000"/>
              </a:lnSpc>
              <a:spcBef>
                <a:spcPts val="0"/>
              </a:spcBef>
              <a:spcAft>
                <a:spcPts val="0"/>
              </a:spcAft>
              <a:buSzPts val="1300"/>
              <a:buChar char="●"/>
            </a:pPr>
            <a:r>
              <a:rPr lang="en"/>
              <a:t>When you want to see how things look, right click on the file and choose “Open with LiveServer”</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id="282" name="Google Shape;282;p31"/>
          <p:cNvPicPr preferRelativeResize="0"/>
          <p:nvPr/>
        </p:nvPicPr>
        <p:blipFill rotWithShape="1">
          <a:blip r:embed="rId3">
            <a:alphaModFix/>
          </a:blip>
          <a:srcRect b="0" l="0" r="0" t="0"/>
          <a:stretch/>
        </p:blipFill>
        <p:spPr>
          <a:xfrm>
            <a:off x="786068" y="0"/>
            <a:ext cx="7752507"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